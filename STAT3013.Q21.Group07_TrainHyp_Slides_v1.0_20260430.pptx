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6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>
        <p:scale>
          <a:sx n="80" d="100"/>
          <a:sy n="80" d="100"/>
        </p:scale>
        <p:origin x="1522" y="4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4728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>
                <a:solidFill>
                  <a:srgbClr val="00D4AA"/>
                </a:solidFill>
              </a:rPr>
              <a:t>"Before prediction, we established the empirical behavior of the target variable." Right skew → high-responders are rare. Outlier removal: |g|&gt;3 removed 3 extreme cases.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>
                <a:solidFill>
                  <a:srgbClr val="94A3B8"/>
                </a:solidFill>
              </a:rPr>
              <a:t>★  Hedges' g is right-skewed (mean 0.429 &gt; median 0.360). Wide SD in sets/week reflects diverse study protocols. </a:t>
            </a:r>
            <a:r>
              <a:rPr lang="en-US" sz="1200" i="1" dirty="0" err="1">
                <a:solidFill>
                  <a:srgbClr val="94A3B8"/>
                </a:solidFill>
              </a:rPr>
              <a:t>reps.week.all</a:t>
            </a:r>
            <a:r>
              <a:rPr lang="en-US" sz="1200" i="1" dirty="0">
                <a:solidFill>
                  <a:srgbClr val="94A3B8"/>
                </a:solidFill>
              </a:rPr>
              <a:t> excluded: multicollinearity r=0.977.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00D4AA"/>
                </a:solidFill>
              </a:rPr>
              <a:t>fig5: Dose-response scatter (n=198 </a:t>
            </a:r>
            <a:r>
              <a:rPr lang="en-US" sz="1200" dirty="0" err="1">
                <a:solidFill>
                  <a:srgbClr val="00D4AA"/>
                </a:solidFill>
              </a:rPr>
              <a:t>obs</a:t>
            </a:r>
            <a:r>
              <a:rPr lang="en-US" sz="1200" dirty="0">
                <a:solidFill>
                  <a:srgbClr val="00D4AA"/>
                </a:solidFill>
              </a:rPr>
              <a:t>) · Linear slope=0.0149 per set/week · Low=red · Moderate=orange · High=green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>
                <a:solidFill>
                  <a:srgbClr val="00D4AA"/>
                </a:solidFill>
              </a:rPr>
              <a:t>Conclusion: Hypertrophy optimization is multifactorial, but training volume is the dominant modifiable driver. This finding is now handed to ML models for predictive depth.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rgbClr val="00D4AA"/>
                </a:solidFill>
              </a:rPr>
              <a:t>dose_response_curve</a:t>
            </a:r>
            <a:r>
              <a:rPr lang="en-US" sz="1200" dirty="0">
                <a:solidFill>
                  <a:srgbClr val="00D4AA"/>
                </a:solidFill>
              </a:rPr>
              <a:t>: EBM prediction (left) — optimal 32 sets/week (P90-capped) · Marginal effects (right) — </a:t>
            </a:r>
            <a:r>
              <a:rPr lang="en-US" sz="1200" dirty="0" err="1">
                <a:solidFill>
                  <a:srgbClr val="00D4AA"/>
                </a:solidFill>
              </a:rPr>
              <a:t>Δg</a:t>
            </a:r>
            <a:r>
              <a:rPr lang="en-US" sz="1200" dirty="0">
                <a:solidFill>
                  <a:srgbClr val="00D4AA"/>
                </a:solidFill>
              </a:rPr>
              <a:t> per added set shows positive trend with noise after 25+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rgbClr val="F59E0B"/>
                </a:solidFill>
              </a:rPr>
              <a:t>tabnet_training</a:t>
            </a:r>
            <a:r>
              <a:rPr lang="en-US" sz="1200" dirty="0">
                <a:solidFill>
                  <a:srgbClr val="F59E0B"/>
                </a:solidFill>
              </a:rPr>
              <a:t>: Train loss ↓ while Val RMSE plateaus ~0.38 → Classic overfit · Attention masks: </a:t>
            </a:r>
            <a:r>
              <a:rPr lang="en-US" sz="1200" dirty="0" err="1">
                <a:solidFill>
                  <a:srgbClr val="F59E0B"/>
                </a:solidFill>
              </a:rPr>
              <a:t>sets.week.all</a:t>
            </a:r>
            <a:r>
              <a:rPr lang="en-US" sz="1200" dirty="0">
                <a:solidFill>
                  <a:srgbClr val="F59E0B"/>
                </a:solidFill>
              </a:rPr>
              <a:t> highlighted (red) = convergent validity with EBM &amp; </a:t>
            </a:r>
            <a:r>
              <a:rPr lang="en-US" sz="1200" dirty="0" err="1">
                <a:solidFill>
                  <a:srgbClr val="F59E0B"/>
                </a:solidFill>
              </a:rPr>
              <a:t>CatBoost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rgbClr val="22C55E"/>
                </a:solidFill>
              </a:rPr>
              <a:t>gpr_safety</a:t>
            </a:r>
            <a:r>
              <a:rPr lang="en-US" sz="1200" dirty="0">
                <a:solidFill>
                  <a:srgbClr val="22C55E"/>
                </a:solidFill>
              </a:rPr>
              <a:t>: σ distribution on test set · Red dashed = P90 safety threshold (σ&gt;0.31) · Inputs beyond threshold → flagged as OOD · Majority (90%) within safe zone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rgbClr val="00D4AA"/>
                </a:solidFill>
              </a:rPr>
              <a:t>model_comparison</a:t>
            </a:r>
            <a:r>
              <a:rPr lang="en-US" sz="1200" dirty="0">
                <a:solidFill>
                  <a:srgbClr val="00D4AA"/>
                </a:solidFill>
              </a:rPr>
              <a:t>: </a:t>
            </a:r>
            <a:r>
              <a:rPr lang="en-US" sz="1200" dirty="0" err="1">
                <a:solidFill>
                  <a:srgbClr val="00D4AA"/>
                </a:solidFill>
              </a:rPr>
              <a:t>NGBoost</a:t>
            </a:r>
            <a:r>
              <a:rPr lang="en-US" sz="1200" dirty="0">
                <a:solidFill>
                  <a:srgbClr val="00D4AA"/>
                </a:solidFill>
              </a:rPr>
              <a:t> RMSE=0.2905 (WINNER) · EBM=0.3176 · GAM=0.3248 · </a:t>
            </a:r>
            <a:r>
              <a:rPr lang="en-US" sz="1200" dirty="0" err="1">
                <a:solidFill>
                  <a:srgbClr val="00D4AA"/>
                </a:solidFill>
              </a:rPr>
              <a:t>TabNet</a:t>
            </a:r>
            <a:r>
              <a:rPr lang="en-US" sz="1200" dirty="0">
                <a:solidFill>
                  <a:srgbClr val="00D4AA"/>
                </a:solidFill>
              </a:rPr>
              <a:t>=0.3690 · Linear=0.3893 · R²: </a:t>
            </a:r>
            <a:r>
              <a:rPr lang="en-US" sz="1200" dirty="0" err="1">
                <a:solidFill>
                  <a:srgbClr val="00D4AA"/>
                </a:solidFill>
              </a:rPr>
              <a:t>NGBoost</a:t>
            </a:r>
            <a:r>
              <a:rPr lang="en-US" sz="1200" dirty="0">
                <a:solidFill>
                  <a:srgbClr val="00D4AA"/>
                </a:solidFill>
              </a:rPr>
              <a:t>=0.537 · EBM=0.447 · GAM=0.422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>
                <a:solidFill>
                  <a:srgbClr val="22C55E"/>
                </a:solidFill>
              </a:rPr>
              <a:t>&gt; SEM moves beyond prediction — it validates the causal structure hypothesized from exercise physiology theory.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D27C0-1FFA-2A3D-9F82-A5A69C286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2A5C6A-546D-48F9-3292-FAFB1A5465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CCD0B2-CFB6-48AB-BF8B-DC74432B35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>
                <a:solidFill>
                  <a:srgbClr val="22C55E"/>
                </a:solidFill>
              </a:rPr>
              <a:t>&gt; SEM moves beyond prediction — it validates the causal structure hypothesized from exercise physiology theory.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BA36EE-3CCD-3B31-5396-65536896F6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47630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00D4AA"/>
                </a:solidFill>
              </a:rPr>
              <a:t>Future: Explainable AI (XAI) · Longitudinal individual-level data · Federated learning · Wearable sensor integration · Ethical AI in training prescriptions · Larger sample validation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>
                <a:solidFill>
                  <a:srgbClr val="94A3B8"/>
                </a:solidFill>
              </a:rPr>
              <a:t>"We engineered" · "We validated" · "We benchmarked" · "We operationalized" — research-first tone, avoid "We just made…"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731520"/>
            <a:ext cx="4114800" cy="4114800"/>
          </a:xfrm>
          <a:prstGeom prst="ellipse">
            <a:avLst/>
          </a:prstGeom>
          <a:solidFill>
            <a:srgbClr val="4C1D95">
              <a:alpha val="20000"/>
            </a:srgbClr>
          </a:solidFill>
          <a:ln w="12700">
            <a:solidFill>
              <a:srgbClr val="7C3AED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82880"/>
            <a:ext cx="2560320" cy="2560320"/>
          </a:xfrm>
          <a:prstGeom prst="ellipse">
            <a:avLst/>
          </a:prstGeom>
          <a:solidFill>
            <a:srgbClr val="064E3B">
              <a:alpha val="20000"/>
            </a:srgbClr>
          </a:solidFill>
          <a:ln w="12700">
            <a:solidFill>
              <a:srgbClr val="00D4AA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45720" cy="2560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914400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14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AA"/>
                </a:solidFill>
              </a:rPr>
              <a:t>STAT3013 · 2026 · TrainHyp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261872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E2E8F0"/>
                </a:solidFill>
              </a:rPr>
              <a:t>AI-Driven Muscle Hypertrophy</a:t>
            </a:r>
            <a:endParaRPr lang="en-US" sz="3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E2E8F0"/>
                </a:solidFill>
              </a:rPr>
              <a:t>Prediction and Optimization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</a:rPr>
              <a:t>From Meta-Analytic Evidence to Explainable, Safety-Aware, Interactive Decision Support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310128"/>
            <a:ext cx="64008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429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Data Pipeline · Descriptive &amp; Inferential Stats · Subgroup Analysis · EBM/GAM · NGBoost · TabNet · CatBoost+GPR · SEM · Integration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4480560"/>
            <a:ext cx="960120" cy="256032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48056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</a:rPr>
              <a:t>Research Synthesis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508760" y="4480560"/>
            <a:ext cx="960120" cy="256032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08760" y="448056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</a:rPr>
              <a:t>Data Engineering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560320" y="4480560"/>
            <a:ext cx="960120" cy="256032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448056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</a:rPr>
              <a:t>Statistical Analysis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611880" y="4480560"/>
            <a:ext cx="960120" cy="256032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1880" y="448056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</a:rPr>
              <a:t>ML/DL Benchmarking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663440" y="4480560"/>
            <a:ext cx="960120" cy="256032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448056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</a:rPr>
              <a:t>Explainable AI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715000" y="4480560"/>
            <a:ext cx="960120" cy="256032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15000" y="448056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</a:rPr>
              <a:t>Safety AI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766560" y="4480560"/>
            <a:ext cx="960120" cy="256032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448056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</a:rPr>
              <a:t>Causal Inference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7818120" y="4480560"/>
            <a:ext cx="960120" cy="256032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18120" y="448056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</a:rPr>
              <a:t>Deployment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STAT3013 · 2026 — TrainHyp Project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9436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</a:rPr>
              <a:t>◈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182880"/>
            <a:ext cx="18288" cy="2286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</a:rPr>
              <a:t>Team Division &amp; Presentation Roadmap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713232"/>
            <a:ext cx="8595360" cy="43159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841248"/>
            <a:ext cx="8321040" cy="868680"/>
          </a:xfrm>
          <a:prstGeom prst="rect">
            <a:avLst/>
          </a:prstGeom>
          <a:solidFill>
            <a:srgbClr val="21262D"/>
          </a:solidFill>
          <a:ln w="12700">
            <a:solidFill>
              <a:srgbClr val="00D4AA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841248"/>
            <a:ext cx="54864" cy="8686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9144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</a:rPr>
              <a:t>Member 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965960" y="932688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00D4AA">
              <a:alpha val="65000"/>
            </a:srgbClr>
          </a:solidFill>
          <a:ln w="12700">
            <a:solidFill>
              <a:srgbClr val="00D4AA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65960" y="9326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8F0"/>
                </a:solidFill>
              </a:rPr>
              <a:t>Slides 1–7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01568" y="91440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Research Problem · Data Acquisition · Cleaning · Feature Engineering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1847088"/>
            <a:ext cx="8321040" cy="868680"/>
          </a:xfrm>
          <a:prstGeom prst="rect">
            <a:avLst/>
          </a:prstGeom>
          <a:solidFill>
            <a:srgbClr val="21262D"/>
          </a:solidFill>
          <a:ln w="12700">
            <a:solidFill>
              <a:srgbClr val="3B82F6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1847088"/>
            <a:ext cx="54864" cy="868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192024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</a:rPr>
              <a:t>Member 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965960" y="1938528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3B82F6">
              <a:alpha val="65000"/>
            </a:srgbClr>
          </a:solidFill>
          <a:ln w="12700">
            <a:solidFill>
              <a:srgbClr val="3B82F6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65960" y="19385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8F0"/>
                </a:solidFill>
              </a:rPr>
              <a:t>Slides 8–14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01568" y="192024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Descriptive Stats · Inferential Stats · Subgroup Analysis · Findings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2852928"/>
            <a:ext cx="8321040" cy="868680"/>
          </a:xfrm>
          <a:prstGeom prst="rect">
            <a:avLst/>
          </a:prstGeom>
          <a:solidFill>
            <a:srgbClr val="21262D"/>
          </a:solidFill>
          <a:ln w="12700">
            <a:solidFill>
              <a:srgbClr val="7C3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2852928"/>
            <a:ext cx="54864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92608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</a:rPr>
              <a:t>Member 3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965960" y="2944368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7C3AED">
              <a:alpha val="65000"/>
            </a:srgbClr>
          </a:solidFill>
          <a:ln w="12700">
            <a:solidFill>
              <a:srgbClr val="7C3AED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65960" y="29443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8F0"/>
                </a:solidFill>
              </a:rPr>
              <a:t>Slides 15–22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01568" y="292608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Model Philosophy · EBM/GAM · NGBoost · TabNet · CatBoost+GPR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1480" y="3858768"/>
            <a:ext cx="8321040" cy="868680"/>
          </a:xfrm>
          <a:prstGeom prst="rect">
            <a:avLst/>
          </a:prstGeom>
          <a:solidFill>
            <a:srgbClr val="21262D"/>
          </a:solidFill>
          <a:ln w="1270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1480" y="3858768"/>
            <a:ext cx="54864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93192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Member 4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965960" y="3950208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F59E0B">
              <a:alpha val="65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65960" y="39502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8F0"/>
                </a:solidFill>
              </a:rPr>
              <a:t>Slides 23–30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401568" y="393192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SEM · Integration · Dashboard · Limitations · Conclusion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" y="4718304"/>
            <a:ext cx="859536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30 slides total  ·  ~7–8 slides per member  ·  Deep Space Science theme  ·  All real chart images embedded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</a:rPr>
              <a:t>M1·1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182880"/>
            <a:ext cx="18288" cy="2286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</a:rPr>
              <a:t>Research Problem — The Intelligence Gap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863840" y="4937760"/>
            <a:ext cx="1143000" cy="237744"/>
          </a:xfrm>
          <a:prstGeom prst="roundRect">
            <a:avLst>
              <a:gd name="adj" fmla="val 19231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493776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Member 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713232"/>
            <a:ext cx="8595360" cy="43159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8229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</a:rPr>
              <a:t>The Problem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1152144"/>
            <a:ext cx="347472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225296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Despite 70+ resistance training studies, practitioners lack unified, personalized optimization intelligence. Literature is fragmented, inaccessible, and non-actionable.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084832"/>
            <a:ext cx="2633472" cy="2697480"/>
          </a:xfrm>
          <a:prstGeom prst="rect">
            <a:avLst/>
          </a:prstGeom>
          <a:solidFill>
            <a:srgbClr val="21262D"/>
          </a:solidFill>
          <a:ln w="12700">
            <a:solidFill>
              <a:srgbClr val="EF4444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084832"/>
            <a:ext cx="2633472" cy="320040"/>
          </a:xfrm>
          <a:prstGeom prst="rect">
            <a:avLst/>
          </a:prstGeom>
          <a:solidFill>
            <a:srgbClr val="EF4444">
              <a:alpha val="7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084832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</a:rPr>
              <a:t>Fragmented Literature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2468880"/>
            <a:ext cx="2450592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70+ studies with inconsistent metrics, different measurement tools, and missing data across decades of research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46120" y="2084832"/>
            <a:ext cx="2633472" cy="2697480"/>
          </a:xfrm>
          <a:prstGeom prst="rect">
            <a:avLst/>
          </a:prstGeom>
          <a:solidFill>
            <a:srgbClr val="21262D"/>
          </a:solidFill>
          <a:ln w="1270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2084832"/>
            <a:ext cx="2633472" cy="320040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2084832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</a:rPr>
              <a:t>No Unified Optimization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2468880"/>
            <a:ext cx="2450592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No system predicts, explains AND recommends simultaneously — existing tools handle only one task at a time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80760" y="2084832"/>
            <a:ext cx="2633472" cy="2697480"/>
          </a:xfrm>
          <a:prstGeom prst="rect">
            <a:avLst/>
          </a:prstGeom>
          <a:solidFill>
            <a:srgbClr val="21262D"/>
          </a:solidFill>
          <a:ln w="12700">
            <a:solidFill>
              <a:srgbClr val="00D4AA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80760" y="2084832"/>
            <a:ext cx="2633472" cy="320040"/>
          </a:xfrm>
          <a:prstGeom prst="rect">
            <a:avLst/>
          </a:prstGeom>
          <a:solidFill>
            <a:srgbClr val="00D4AA">
              <a:alpha val="7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2084832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</a:rPr>
              <a:t>Our Solution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72200" y="2468880"/>
            <a:ext cx="2450592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Multi-model AI ecosystem: predict + explain + classify + quantify uncertainty + causal inference + deploy as dashboard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4700016"/>
            <a:ext cx="8595360" cy="347472"/>
          </a:xfrm>
          <a:prstGeom prst="rect">
            <a:avLst/>
          </a:prstGeom>
          <a:solidFill>
            <a:srgbClr val="0D1F0D"/>
          </a:solidFill>
          <a:ln w="12700">
            <a:solidFill>
              <a:srgbClr val="00D4AA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0D4AA"/>
                </a:solidFill>
              </a:rPr>
              <a:t>"We engineered a research-first, statistically validated, multi-model AI ecosystem that transforms fragmented hypertrophy literature into predictive, interpretable, deployable optimization intelligence."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M1·2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182880"/>
            <a:ext cx="18288" cy="2286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</a:rPr>
              <a:t>Data Acquisition Challenge — Quality Over Quantity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863840" y="4937760"/>
            <a:ext cx="1143000" cy="237744"/>
          </a:xfrm>
          <a:prstGeom prst="roundRect">
            <a:avLst>
              <a:gd name="adj" fmla="val 19231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493776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Member 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713232"/>
            <a:ext cx="4251960" cy="4407408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822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Real Barriers Encountered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133856"/>
            <a:ext cx="38404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" y="1261872"/>
            <a:ext cx="45720" cy="7863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2801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A. Publication Access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15544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Paywalled papers · Restricted supplementary files · Institutional access limits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8912" y="2194560"/>
            <a:ext cx="45720" cy="7863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2128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B. Raw Data Transparency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4360" y="24871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Summary statistics only · Missing row-level intervention data · Missing volume/failure specifics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38912" y="3127248"/>
            <a:ext cx="45720" cy="7863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1455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C. Author Outreach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4360" y="341985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Email attempts → Non-response / Refusal / Archival issues across multiple attempts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38912" y="4059936"/>
            <a:ext cx="45720" cy="7863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0782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D. Standardization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94360" y="435254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Different hypertrophy metrics · Different training definitions · Inconsistent reporting formats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713232"/>
            <a:ext cx="4160520" cy="44074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822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</a:rPr>
              <a:t>Data Funnel — Why N = 198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1133856"/>
            <a:ext cx="384048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74920" y="1261872"/>
            <a:ext cx="3474720" cy="475488"/>
          </a:xfrm>
          <a:prstGeom prst="rect">
            <a:avLst/>
          </a:prstGeom>
          <a:solidFill>
            <a:srgbClr val="3B82F6">
              <a:alpha val="68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66360" y="129844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Papers screened from OSF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66360" y="151790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82F6"/>
                </a:solidFill>
              </a:rPr>
              <a:t>~300+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74920" y="1956816"/>
            <a:ext cx="3218688" cy="475488"/>
          </a:xfrm>
          <a:prstGeom prst="rect">
            <a:avLst/>
          </a:prstGeom>
          <a:solidFill>
            <a:srgbClr val="3B82F6">
              <a:alpha val="68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66360" y="199339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After paywall / access filter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66360" y="22128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82F6"/>
                </a:solidFill>
              </a:rPr>
              <a:t>~120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074920" y="2651760"/>
            <a:ext cx="2962656" cy="475488"/>
          </a:xfrm>
          <a:prstGeom prst="rect">
            <a:avLst/>
          </a:prstGeom>
          <a:solidFill>
            <a:srgbClr val="7C3AED">
              <a:alpha val="6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66360" y="268833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With usable raw data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66360" y="29077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</a:rPr>
              <a:t>~85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074920" y="3346704"/>
            <a:ext cx="2706624" cy="475488"/>
          </a:xfrm>
          <a:prstGeom prst="rect">
            <a:avLst/>
          </a:prstGeom>
          <a:solidFill>
            <a:srgbClr val="F59E0B">
              <a:alpha val="6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66360" y="338328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After standardization &amp; harmonization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66360" y="360273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~70 studies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074920" y="4041648"/>
            <a:ext cx="2450592" cy="475488"/>
          </a:xfrm>
          <a:prstGeom prst="rect">
            <a:avLst/>
          </a:prstGeom>
          <a:solidFill>
            <a:srgbClr val="00D4AA">
              <a:alpha val="68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66360" y="407822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Final dataset (Hypertrophy only)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166360" y="42976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4AA"/>
                </a:solidFill>
              </a:rPr>
              <a:t>N = 198 obs.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709160" y="4681728"/>
            <a:ext cx="4160520" cy="438912"/>
          </a:xfrm>
          <a:prstGeom prst="rect">
            <a:avLst/>
          </a:prstGeom>
          <a:solidFill>
            <a:srgbClr val="21262D"/>
          </a:solidFill>
          <a:ln w="12700">
            <a:solidFill>
              <a:srgbClr val="00D4AA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846320" y="4718304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D4AA"/>
                </a:solidFill>
              </a:rPr>
              <a:t>Defense: Challenge was not literature quantity, but ML-grade data usability. Quality &gt; Quantity.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9436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</a:rPr>
              <a:t>M1·3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182880"/>
            <a:ext cx="18288" cy="2286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</a:rPr>
              <a:t>Data Cleaning — From Raw Excel to ML-Ready Matrix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809833" y="4317206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6032" y="713232"/>
            <a:ext cx="1371600" cy="2633472"/>
          </a:xfrm>
          <a:prstGeom prst="rect">
            <a:avLst/>
          </a:prstGeom>
          <a:solidFill>
            <a:srgbClr val="161B22"/>
          </a:solidFill>
          <a:ln w="12700">
            <a:solidFill>
              <a:srgbClr val="00D4AA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713232"/>
            <a:ext cx="1371600" cy="347472"/>
          </a:xfrm>
          <a:prstGeom prst="rect">
            <a:avLst/>
          </a:prstGeom>
          <a:solidFill>
            <a:srgbClr val="00D4AA">
              <a:alpha val="8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7132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AA"/>
                </a:solidFill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9184" y="112471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E8F0"/>
                </a:solidFill>
              </a:rPr>
              <a:t>Raw Data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" y="1481328"/>
            <a:ext cx="1234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Extracted-Data.xlsx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95 columns · Multi-outcome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(Hypertrophy, Strength…)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1920240"/>
            <a:ext cx="82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363D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709928" y="713232"/>
            <a:ext cx="1371600" cy="2633472"/>
          </a:xfrm>
          <a:prstGeom prst="rect">
            <a:avLst/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709928" y="713232"/>
            <a:ext cx="1371600" cy="347472"/>
          </a:xfrm>
          <a:prstGeom prst="rect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09928" y="7132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83080" y="112471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E8F0"/>
                </a:solidFill>
              </a:rPr>
              <a:t>Filter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783080" y="1481328"/>
            <a:ext cx="1234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Keep Hypertrophy only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Drop other outcome rows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→ Focus on target domain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081528" y="1920240"/>
            <a:ext cx="82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363D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163824" y="713232"/>
            <a:ext cx="1371600" cy="2633472"/>
          </a:xfrm>
          <a:prstGeom prst="rect">
            <a:avLst/>
          </a:prstGeom>
          <a:solidFill>
            <a:srgbClr val="161B22"/>
          </a:solidFill>
          <a:ln w="12700">
            <a:solidFill>
              <a:srgbClr val="7C3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63824" y="713232"/>
            <a:ext cx="1371600" cy="347472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63824" y="7132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C3AED"/>
                </a:solidFill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236976" y="112471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E8F0"/>
                </a:solidFill>
              </a:rPr>
              <a:t>29 Columns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36976" y="1481328"/>
            <a:ext cx="1234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Study Info · Subject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Training parameters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Out of 95 original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35424" y="1920240"/>
            <a:ext cx="82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363D"/>
                </a:solidFill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617720" y="713232"/>
            <a:ext cx="1371600" cy="2633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17720" y="713232"/>
            <a:ext cx="1371600" cy="347472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0" y="7132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690872" y="112471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E8F0"/>
                </a:solidFill>
              </a:rPr>
              <a:t>Missing Values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90872" y="1481328"/>
            <a:ext cx="1234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years.exp: median impute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(45% missing)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Numeric coercion applied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89320" y="1920240"/>
            <a:ext cx="82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363D"/>
                </a:solidFill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071616" y="713232"/>
            <a:ext cx="1371600" cy="2633472"/>
          </a:xfrm>
          <a:prstGeom prst="rect">
            <a:avLst/>
          </a:prstGeom>
          <a:solidFill>
            <a:srgbClr val="161B22"/>
          </a:solidFill>
          <a:ln w="12700">
            <a:solidFill>
              <a:srgbClr val="EF4444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71616" y="713232"/>
            <a:ext cx="1371600" cy="347472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71616" y="7132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4444"/>
                </a:solidFill>
              </a:rPr>
              <a:t>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144768" y="112471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E8F0"/>
                </a:solidFill>
              </a:rPr>
              <a:t>Hedges' 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44768" y="1481328"/>
            <a:ext cx="1234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Pooled SD formula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Pre/post means &amp; SD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Remove |g| &gt; 3 outliers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443216" y="1920240"/>
            <a:ext cx="82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0363D"/>
                </a:solidFill>
              </a:rPr>
              <a:t>→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525512" y="713232"/>
            <a:ext cx="1371600" cy="2633472"/>
          </a:xfrm>
          <a:prstGeom prst="rect">
            <a:avLst/>
          </a:prstGeom>
          <a:solidFill>
            <a:srgbClr val="161B22"/>
          </a:solidFill>
          <a:ln w="12700">
            <a:solidFill>
              <a:srgbClr val="22C55E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525512" y="713232"/>
            <a:ext cx="1371600" cy="347472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25512" y="7132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C55E"/>
                </a:solidFill>
              </a:rPr>
              <a:t>6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7598664" y="112471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E8F0"/>
                </a:solidFill>
              </a:rPr>
              <a:t>Export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598664" y="1481328"/>
            <a:ext cx="1234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data_cleaned.csv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data_features.csv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n=198 ready for ML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11480" y="35661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0702343"/>
              </p:ext>
            </p:extLst>
          </p:nvPr>
        </p:nvGraphicFramePr>
        <p:xfrm>
          <a:off x="59435" y="4815840"/>
          <a:ext cx="9025129" cy="243840"/>
        </p:xfrm>
        <a:graphic>
          <a:graphicData uri="http://schemas.openxmlformats.org/drawingml/2006/table">
            <a:tbl>
              <a:tblPr/>
              <a:tblGrid>
                <a:gridCol w="24105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4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05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                                                              Member 1</a:t>
                      </a: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9436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</a:rPr>
              <a:t>M1·4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182880"/>
            <a:ext cx="18288" cy="2286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</a:rPr>
              <a:t>Feature Engineering — 6 Derived Variables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863840" y="4937760"/>
            <a:ext cx="1143000" cy="237744"/>
          </a:xfrm>
          <a:prstGeom prst="roundRect">
            <a:avLst>
              <a:gd name="adj" fmla="val 19231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493776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Member 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6032" y="749808"/>
            <a:ext cx="2788920" cy="2029968"/>
          </a:xfrm>
          <a:prstGeom prst="rect">
            <a:avLst/>
          </a:prstGeom>
          <a:solidFill>
            <a:srgbClr val="161B22"/>
          </a:solidFill>
          <a:ln w="12700">
            <a:solidFill>
              <a:srgbClr val="00D4AA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749808"/>
            <a:ext cx="2788920" cy="310896"/>
          </a:xfrm>
          <a:prstGeom prst="rect">
            <a:avLst/>
          </a:prstGeom>
          <a:solidFill>
            <a:srgbClr val="00D4AA">
              <a:alpha val="7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7498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2E8F0"/>
                </a:solidFill>
              </a:rPr>
              <a:t>volume_category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0" y="786384"/>
            <a:ext cx="694944" cy="237744"/>
          </a:xfrm>
          <a:prstGeom prst="roundRect">
            <a:avLst>
              <a:gd name="adj" fmla="val 15385"/>
            </a:avLst>
          </a:prstGeom>
          <a:solidFill>
            <a:srgbClr val="00D4AA">
              <a:alpha val="50000"/>
            </a:srgbClr>
          </a:solidFill>
          <a:ln w="12700">
            <a:solidFill>
              <a:srgbClr val="00D4AA">
                <a:alpha val="7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786384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2E8F0"/>
                </a:solidFill>
              </a:rPr>
              <a:t>Ordinal 3-class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47472" y="113385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AA"/>
                </a:solidFill>
              </a:rPr>
              <a:t>Rule: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472" y="1316736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sets.week.all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≤6 → Low  |  7–15 → Moderate  |  &gt;15 → High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7472" y="201168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</a:rPr>
              <a:t>Use: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7472" y="2194560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</a:rPr>
              <a:t>Stratification · ANOVA · Subgroup split · ML input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163824" y="749808"/>
            <a:ext cx="2788920" cy="2029968"/>
          </a:xfrm>
          <a:prstGeom prst="rect">
            <a:avLst/>
          </a:prstGeom>
          <a:solidFill>
            <a:srgbClr val="161B22"/>
          </a:solidFill>
          <a:ln w="12700">
            <a:solidFill>
              <a:srgbClr val="7C3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63824" y="749808"/>
            <a:ext cx="2788920" cy="310896"/>
          </a:xfrm>
          <a:prstGeom prst="rect">
            <a:avLst/>
          </a:prstGeom>
          <a:solidFill>
            <a:srgbClr val="7C3AED">
              <a:alpha val="7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55264" y="7498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2E8F0"/>
                </a:solidFill>
              </a:rPr>
              <a:t>failure_binary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193792" y="786384"/>
            <a:ext cx="694944" cy="237744"/>
          </a:xfrm>
          <a:prstGeom prst="roundRect">
            <a:avLst>
              <a:gd name="adj" fmla="val 15385"/>
            </a:avLst>
          </a:prstGeom>
          <a:solidFill>
            <a:srgbClr val="7C3AED">
              <a:alpha val="50000"/>
            </a:srgbClr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93792" y="786384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2E8F0"/>
                </a:solidFill>
              </a:rPr>
              <a:t>Binary 0/1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255264" y="113385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</a:rPr>
              <a:t>Rule: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55264" y="1316736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failure.nonfailure.mixed.direct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== 'failure' → 1  |  otherwise → 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55264" y="201168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</a:rPr>
              <a:t>Use: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55264" y="2194560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</a:rPr>
              <a:t>Chi-square test · Subgroup analysis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071616" y="749808"/>
            <a:ext cx="2788920" cy="2029968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71616" y="749808"/>
            <a:ext cx="2788920" cy="310896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63056" y="7498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2E8F0"/>
                </a:solidFill>
              </a:rPr>
              <a:t>nutrition_category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01584" y="786384"/>
            <a:ext cx="694944" cy="237744"/>
          </a:xfrm>
          <a:prstGeom prst="roundRect">
            <a:avLst>
              <a:gd name="adj" fmla="val 15385"/>
            </a:avLst>
          </a:prstGeom>
          <a:solidFill>
            <a:srgbClr val="F59E0B">
              <a:alpha val="50000"/>
            </a:srgbClr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01584" y="786384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2E8F0"/>
                </a:solidFill>
              </a:rPr>
              <a:t>Nominal 3-class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163056" y="113385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Rule: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63056" y="1316736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surplus? == yes → Surplus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deficit? == yes → Deficit  |  else → None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63056" y="201168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</a:rPr>
              <a:t>Use: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63056" y="2194560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</a:rPr>
              <a:t>Subgroup: nutrition effect on hypertrophy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56032" y="2926080"/>
            <a:ext cx="2788920" cy="2029968"/>
          </a:xfrm>
          <a:prstGeom prst="rect">
            <a:avLst/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56032" y="2926080"/>
            <a:ext cx="2788920" cy="310896"/>
          </a:xfrm>
          <a:prstGeom prst="rect">
            <a:avLst/>
          </a:prstGeom>
          <a:solidFill>
            <a:srgbClr val="3B82F6">
              <a:alpha val="7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29260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2E8F0"/>
                </a:solidFill>
              </a:rPr>
              <a:t>train_status_enc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286000" y="2962656"/>
            <a:ext cx="694944" cy="237744"/>
          </a:xfrm>
          <a:prstGeom prst="roundRect">
            <a:avLst>
              <a:gd name="adj" fmla="val 15385"/>
            </a:avLst>
          </a:prstGeom>
          <a:solidFill>
            <a:srgbClr val="3B82F6">
              <a:alpha val="50000"/>
            </a:srgbClr>
          </a:solidFill>
          <a:ln w="12700">
            <a:solidFill>
              <a:srgbClr val="3B82F6">
                <a:alpha val="7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86000" y="2962656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2E8F0"/>
                </a:solidFill>
              </a:rPr>
              <a:t>Ordinal encoded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47472" y="33101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</a:rPr>
              <a:t>Rule: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47472" y="3493008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untrained → 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recreational → 1  |  trained → 2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47472" y="418795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</a:rPr>
              <a:t>Use: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47472" y="4370832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</a:rPr>
              <a:t>All ML models as ordinal signal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163824" y="2926080"/>
            <a:ext cx="2788920" cy="2029968"/>
          </a:xfrm>
          <a:prstGeom prst="rect">
            <a:avLst/>
          </a:prstGeom>
          <a:solidFill>
            <a:srgbClr val="161B22"/>
          </a:solidFill>
          <a:ln w="12700">
            <a:solidFill>
              <a:srgbClr val="22C55E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163824" y="2926080"/>
            <a:ext cx="2788920" cy="310896"/>
          </a:xfrm>
          <a:prstGeom prst="rect">
            <a:avLst/>
          </a:prstGeom>
          <a:solidFill>
            <a:srgbClr val="22C55E">
              <a:alpha val="7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55264" y="29260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2E8F0"/>
                </a:solidFill>
              </a:rPr>
              <a:t>upper_body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193792" y="2962656"/>
            <a:ext cx="694944" cy="237744"/>
          </a:xfrm>
          <a:prstGeom prst="roundRect">
            <a:avLst>
              <a:gd name="adj" fmla="val 15385"/>
            </a:avLst>
          </a:prstGeom>
          <a:solidFill>
            <a:srgbClr val="22C55E">
              <a:alpha val="50000"/>
            </a:srgbClr>
          </a:solidFill>
          <a:ln w="12700">
            <a:solidFill>
              <a:srgbClr val="22C55E">
                <a:alpha val="7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93792" y="2962656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2E8F0"/>
                </a:solidFill>
              </a:rPr>
              <a:t>Binary 0/1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3255264" y="33101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Rule: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255264" y="3493008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upper.lower == 'upper' → 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else → 0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255264" y="418795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</a:rPr>
              <a:t>Use: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255264" y="4370832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</a:rPr>
              <a:t>Subgroup · ML feature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071616" y="2926080"/>
            <a:ext cx="2788920" cy="2029968"/>
          </a:xfrm>
          <a:prstGeom prst="rect">
            <a:avLst/>
          </a:prstGeom>
          <a:solidFill>
            <a:srgbClr val="161B22"/>
          </a:solidFill>
          <a:ln w="12700">
            <a:solidFill>
              <a:srgbClr val="EF4444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071616" y="2926080"/>
            <a:ext cx="2788920" cy="310896"/>
          </a:xfrm>
          <a:prstGeom prst="rect">
            <a:avLst/>
          </a:prstGeom>
          <a:solidFill>
            <a:srgbClr val="EF4444">
              <a:alpha val="7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63056" y="29260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2E8F0"/>
                </a:solidFill>
              </a:rPr>
              <a:t>hyp_class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8101584" y="2962656"/>
            <a:ext cx="694944" cy="237744"/>
          </a:xfrm>
          <a:prstGeom prst="roundRect">
            <a:avLst>
              <a:gd name="adj" fmla="val 15385"/>
            </a:avLst>
          </a:prstGeom>
          <a:solidFill>
            <a:srgbClr val="EF4444">
              <a:alpha val="50000"/>
            </a:srgbClr>
          </a:solidFill>
          <a:ln w="12700">
            <a:solidFill>
              <a:srgbClr val="EF4444">
                <a:alpha val="7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101584" y="2962656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2E8F0"/>
                </a:solidFill>
              </a:rPr>
              <a:t>Classification target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163056" y="33101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Rule: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163056" y="3493008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g &lt; 0.2 → Low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0.2–0.5 → Medium  |  &gt; 0.5 → High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163056" y="418795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</a:rPr>
              <a:t>Use: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163056" y="4370832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</a:rPr>
              <a:t>CatBoost classifier target (NB04)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</a:rPr>
              <a:t>M1·5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182880"/>
            <a:ext cx="18288" cy="2286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</a:rPr>
              <a:t>Dataset Profile — Hedges' g Target Distribution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863840" y="4937760"/>
            <a:ext cx="1143000" cy="237744"/>
          </a:xfrm>
          <a:prstGeom prst="roundRect">
            <a:avLst>
              <a:gd name="adj" fmla="val 19231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493776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Member 1</a:t>
            </a:r>
            <a:endParaRPr lang="en-US" sz="800" dirty="0"/>
          </a:p>
        </p:txBody>
      </p:sp>
      <p:pic>
        <p:nvPicPr>
          <p:cNvPr id="9" name="Image 0" descr="/home/claude/slides_imgs/fig1_hedges_g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85800"/>
            <a:ext cx="8595360" cy="39776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74320" y="4709160"/>
            <a:ext cx="8595360" cy="256032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47091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D4AA"/>
                </a:solidFill>
              </a:rPr>
              <a:t>fig1: Hedges' g across 198 obs · Mean=0.429 · Median=0.360 · Right-skewed · Rare high responders · Small/moderate effects dominate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57200" y="50474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</a:rPr>
              <a:t>M2·1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182880"/>
            <a:ext cx="18288" cy="2286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</a:rPr>
              <a:t>Descriptive Statistics — Key Training Variables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886700" y="4905756"/>
            <a:ext cx="1143000" cy="237744"/>
          </a:xfrm>
          <a:prstGeom prst="roundRect">
            <a:avLst>
              <a:gd name="adj" fmla="val 19231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493776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Member 2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316725"/>
              </p:ext>
            </p:extLst>
          </p:nvPr>
        </p:nvGraphicFramePr>
        <p:xfrm>
          <a:off x="114300" y="635508"/>
          <a:ext cx="8595360" cy="4325112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D4AA"/>
                          </a:solidFill>
                        </a:rPr>
                        <a:t>Variable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D4AA"/>
                          </a:solidFill>
                        </a:rPr>
                        <a:t>Mean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D4AA"/>
                          </a:solidFill>
                        </a:rPr>
                        <a:t>Median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D4AA"/>
                          </a:solidFill>
                        </a:rPr>
                        <a:t>SD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D4AA"/>
                          </a:solidFill>
                        </a:rPr>
                        <a:t>Min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D4AA"/>
                          </a:solidFill>
                        </a:rPr>
                        <a:t>Max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D4AA"/>
                          </a:solidFill>
                        </a:rPr>
                        <a:t>Note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Hedges' g  ← TARGET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0.429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0.360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0.380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−0.80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2.28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i="1" dirty="0">
                          <a:solidFill>
                            <a:srgbClr val="94A3B8"/>
                          </a:solidFill>
                        </a:rPr>
                        <a:t>Right-skewed target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D4AA"/>
                          </a:solidFill>
                        </a:rPr>
                        <a:t>sets.week.all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12.4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12.0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6.8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46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i="1" dirty="0">
                          <a:solidFill>
                            <a:srgbClr val="94A3B8"/>
                          </a:solidFill>
                        </a:rPr>
                        <a:t>Primary predictor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sets.week.direct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9.1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9.0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5.2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36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i="1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frequency.direct (×/wk)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2.1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2.0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0.9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i="1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sessions.per.week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3.5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3.0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1.4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i="1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rep.range.all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10.2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10.0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3.1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25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i="1" dirty="0">
                          <a:solidFill>
                            <a:srgbClr val="94A3B8"/>
                          </a:solidFill>
                        </a:rPr>
                        <a:t>reps.week.all excluded (r=0.977)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interset.rest (min)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2.3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2.0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1.1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0.5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i="1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7C3AED"/>
                          </a:solidFill>
                        </a:rPr>
                        <a:t>percentage.failure (%)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38.5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30.0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31.2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100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i="1" dirty="0">
                          <a:solidFill>
                            <a:srgbClr val="94A3B8"/>
                          </a:solidFill>
                        </a:rPr>
                        <a:t>SEM mediation variable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weeks (study duration)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10.4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10.0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3.8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24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i="1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age (years)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27.8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26.5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8.1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62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i="1" dirty="0">
                          <a:solidFill>
                            <a:srgbClr val="94A3B8"/>
                          </a:solidFill>
                        </a:rPr>
                        <a:t>SEM control variable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274320" y="4718304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</a:rPr>
              <a:t>M2·2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182880"/>
            <a:ext cx="18288" cy="2286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</a:rPr>
              <a:t>Descriptive Visualizations — Group Comparisons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95260" y="4718304"/>
            <a:ext cx="1143000" cy="237744"/>
          </a:xfrm>
          <a:prstGeom prst="roundRect">
            <a:avLst>
              <a:gd name="adj" fmla="val 19231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493776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Member 2</a:t>
            </a:r>
            <a:endParaRPr lang="en-US" sz="800" dirty="0"/>
          </a:p>
        </p:txBody>
      </p:sp>
      <p:pic>
        <p:nvPicPr>
          <p:cNvPr id="9" name="Image 0" descr="/home/claude/slides_imgs/fig2_boxplot_volume_categ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85800"/>
            <a:ext cx="5394960" cy="32461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74320" y="3977640"/>
            <a:ext cx="5394960" cy="256032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397764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D4AA"/>
                </a:solidFill>
              </a:rPr>
              <a:t>fig2: Volume groups — Low(0.305) · Moderate(0.362) · High(0.542) — visible dose-response</a:t>
            </a:r>
            <a:endParaRPr lang="en-US" sz="800" dirty="0"/>
          </a:p>
        </p:txBody>
      </p:sp>
      <p:pic>
        <p:nvPicPr>
          <p:cNvPr id="12" name="Image 1" descr="/home/claude/slides_imgs/fig3_boxplot_train_stat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685800"/>
            <a:ext cx="3017520" cy="157276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852160" y="2304288"/>
            <a:ext cx="3017520" cy="256032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852160" y="23042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fig3: Trained(0.466) vs Untrained(0.376)</a:t>
            </a:r>
            <a:endParaRPr lang="en-US" sz="800" dirty="0"/>
          </a:p>
        </p:txBody>
      </p:sp>
      <p:pic>
        <p:nvPicPr>
          <p:cNvPr id="15" name="Image 2" descr="/home/claude/slides_imgs/fig4_boxplot_upper_low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2395728"/>
            <a:ext cx="3017520" cy="157276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852160" y="4014216"/>
            <a:ext cx="3017520" cy="256032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5852160" y="401421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fig4: Upper(0.453) vs Lower(0.415) body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274320" y="4251960"/>
            <a:ext cx="8595360" cy="82296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502920" y="43159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AA"/>
                </a:solidFill>
              </a:rPr>
              <a:t>0.542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502920" y="463600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High Vol Mean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1920240" y="43159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4444"/>
                </a:solidFill>
              </a:rPr>
              <a:t>0.305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1920240" y="463600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Low Vol Mean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3337560" y="43159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</a:rPr>
              <a:t>0.466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3337560" y="463600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Trained Mean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4754880" y="43159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4A3B8"/>
                </a:solidFill>
              </a:rPr>
              <a:t>0.376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4754880" y="463600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Untrained Mean</a:t>
            </a:r>
            <a:endParaRPr lang="en-US" sz="850" dirty="0"/>
          </a:p>
        </p:txBody>
      </p:sp>
      <p:sp>
        <p:nvSpPr>
          <p:cNvPr id="27" name="Text 22"/>
          <p:cNvSpPr/>
          <p:nvPr/>
        </p:nvSpPr>
        <p:spPr>
          <a:xfrm>
            <a:off x="6172200" y="43159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C3AED"/>
                </a:solidFill>
              </a:rPr>
              <a:t>0.453</a:t>
            </a:r>
            <a:endParaRPr lang="en-US" sz="1800" dirty="0"/>
          </a:p>
        </p:txBody>
      </p:sp>
      <p:sp>
        <p:nvSpPr>
          <p:cNvPr id="28" name="Text 23"/>
          <p:cNvSpPr/>
          <p:nvPr/>
        </p:nvSpPr>
        <p:spPr>
          <a:xfrm>
            <a:off x="6172200" y="463600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Upper Body</a:t>
            </a:r>
            <a:endParaRPr lang="en-US" sz="850" dirty="0"/>
          </a:p>
        </p:txBody>
      </p:sp>
      <p:sp>
        <p:nvSpPr>
          <p:cNvPr id="29" name="Text 24"/>
          <p:cNvSpPr/>
          <p:nvPr/>
        </p:nvSpPr>
        <p:spPr>
          <a:xfrm>
            <a:off x="7589520" y="43159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4A3B8"/>
                </a:solidFill>
              </a:rPr>
              <a:t>0.415</a:t>
            </a:r>
            <a:endParaRPr lang="en-US" sz="1800" dirty="0"/>
          </a:p>
        </p:txBody>
      </p:sp>
      <p:sp>
        <p:nvSpPr>
          <p:cNvPr id="30" name="Text 25"/>
          <p:cNvSpPr/>
          <p:nvPr/>
        </p:nvSpPr>
        <p:spPr>
          <a:xfrm>
            <a:off x="7589520" y="463600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Lower Body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9436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</a:rPr>
              <a:t>M2·3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182880"/>
            <a:ext cx="18288" cy="2286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</a:rPr>
              <a:t>Core Finding — Training Volume Dose-Response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863840" y="4937760"/>
            <a:ext cx="1143000" cy="237744"/>
          </a:xfrm>
          <a:prstGeom prst="roundRect">
            <a:avLst>
              <a:gd name="adj" fmla="val 19231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493776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Member 2</a:t>
            </a:r>
            <a:endParaRPr lang="en-US" sz="800" dirty="0"/>
          </a:p>
        </p:txBody>
      </p:sp>
      <p:pic>
        <p:nvPicPr>
          <p:cNvPr id="9" name="Image 0" descr="/home/claude/slides_imgs/fig5_scatter_volume_hypertroph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94360"/>
            <a:ext cx="8595360" cy="37673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74320" y="449884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37744" y="4375404"/>
            <a:ext cx="2633472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00D4AA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37160" y="4389120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AA"/>
                </a:solidFill>
              </a:rPr>
              <a:t>+0.0149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74320" y="4700016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Δ Hedges' g per added weekly set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008376" y="4370832"/>
            <a:ext cx="2761488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127248" y="4378452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Low → High  +78%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3090672" y="4791456"/>
            <a:ext cx="2761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0.305 → 0.542 (effect size increase)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971032" y="4389120"/>
            <a:ext cx="2871216" cy="65836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126480" y="4480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This finding alone justifies why volume is the central variable in both statistical and ML phases of the project.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</a:rPr>
              <a:t>M2·4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182880"/>
            <a:ext cx="18288" cy="2286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</a:rPr>
              <a:t>Inferential Statistics — Hypothesis Tests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891272" y="4879086"/>
            <a:ext cx="1143000" cy="237744"/>
          </a:xfrm>
          <a:prstGeom prst="roundRect">
            <a:avLst>
              <a:gd name="adj" fmla="val 19231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493776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Member 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6032" y="955548"/>
            <a:ext cx="4279392" cy="1107948"/>
          </a:xfrm>
          <a:prstGeom prst="rect">
            <a:avLst/>
          </a:prstGeom>
          <a:solidFill>
            <a:srgbClr val="161B22"/>
          </a:solidFill>
          <a:ln w="12700">
            <a:solidFill>
              <a:srgbClr val="00D4AA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598932"/>
            <a:ext cx="4279392" cy="292608"/>
          </a:xfrm>
          <a:prstGeom prst="rect">
            <a:avLst/>
          </a:prstGeom>
          <a:solidFill>
            <a:srgbClr val="00D4AA">
              <a:alpha val="7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6050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</a:rPr>
              <a:t>H₁  Welch t-test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0" y="644652"/>
            <a:ext cx="749808" cy="228600"/>
          </a:xfrm>
          <a:prstGeom prst="roundRect">
            <a:avLst>
              <a:gd name="adj" fmla="val 16000"/>
            </a:avLst>
          </a:prstGeom>
          <a:solidFill>
            <a:srgbClr val="22C55E">
              <a:alpha val="7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85032" y="649224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2C55E"/>
                </a:solidFill>
              </a:rPr>
              <a:t>REJECT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47472" y="1078992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H₀: Mean Hedges' g (Low) = Mean Hedges' g (High)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472" y="1335024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</a:rPr>
              <a:t>t = 3.42  ·  p = 0.0009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7472" y="1554480"/>
            <a:ext cx="40416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High volume yields significantly greater hypertrophy than low volume at α=0.05.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18304" y="921258"/>
            <a:ext cx="4279392" cy="1163574"/>
          </a:xfrm>
          <a:prstGeom prst="rect">
            <a:avLst/>
          </a:prstGeom>
          <a:solidFill>
            <a:srgbClr val="161B22"/>
          </a:solidFill>
          <a:ln w="12700">
            <a:solidFill>
              <a:srgbClr val="7C3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718304" y="612648"/>
            <a:ext cx="4279392" cy="292608"/>
          </a:xfrm>
          <a:prstGeom prst="rect">
            <a:avLst/>
          </a:prstGeom>
          <a:solidFill>
            <a:srgbClr val="7C3AED">
              <a:alpha val="7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9744" y="62865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</a:rPr>
              <a:t>H₂  One-way ANOVA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47304" y="594360"/>
            <a:ext cx="749808" cy="228600"/>
          </a:xfrm>
          <a:prstGeom prst="roundRect">
            <a:avLst>
              <a:gd name="adj" fmla="val 16000"/>
            </a:avLst>
          </a:prstGeom>
          <a:solidFill>
            <a:srgbClr val="22C55E">
              <a:alpha val="7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59496" y="630936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2C55E"/>
                </a:solidFill>
              </a:rPr>
              <a:t>REJECT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837176" y="995934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H₀: Mean Hedges' g equal across all 3 volume groups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37176" y="1235202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</a:rPr>
              <a:t>F = 8.71  ·  p = 0.0002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09744" y="1408938"/>
            <a:ext cx="40416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At least one volume group differs. Confirms volume as key driver.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6032" y="2423160"/>
            <a:ext cx="4279392" cy="1088136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256032" y="2167128"/>
            <a:ext cx="4279392" cy="292608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74904" y="21793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</a:rPr>
              <a:t>H₃  Tukey HSD Post-hoc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721608" y="2183892"/>
            <a:ext cx="749808" cy="228600"/>
          </a:xfrm>
          <a:prstGeom prst="roundRect">
            <a:avLst>
              <a:gd name="adj" fmla="val 16000"/>
            </a:avLst>
          </a:prstGeom>
          <a:solidFill>
            <a:srgbClr val="22C55E">
              <a:alpha val="7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694176" y="2193036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2C55E"/>
                </a:solidFill>
              </a:rPr>
              <a:t>2/3 SIG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47472" y="2525268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Which group pairs differ after ANOVA?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74904" y="2825496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</a:rPr>
              <a:t>Low–High: p&lt;0.001 ✓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</a:rPr>
              <a:t>Mod–High: p=0.042 ✓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</a:rPr>
              <a:t>Low–Mod: p=0.231 ✗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47472" y="3108960"/>
            <a:ext cx="40416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High differs from both Low and Moderate. Low ≈ Moderate.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18304" y="2171700"/>
            <a:ext cx="4279392" cy="1339596"/>
          </a:xfrm>
          <a:prstGeom prst="rect">
            <a:avLst/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18304" y="2179320"/>
            <a:ext cx="4279392" cy="292608"/>
          </a:xfrm>
          <a:prstGeom prst="rect">
            <a:avLst/>
          </a:prstGeom>
          <a:solidFill>
            <a:srgbClr val="3B82F6">
              <a:alpha val="7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9744" y="22021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</a:rPr>
              <a:t>H₄  Chi-square Test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159496" y="2206752"/>
            <a:ext cx="749808" cy="228600"/>
          </a:xfrm>
          <a:prstGeom prst="roundRect">
            <a:avLst>
              <a:gd name="adj" fmla="val 16000"/>
            </a:avLst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38160" y="2252472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F4444"/>
                </a:solidFill>
              </a:rPr>
              <a:t>FAIL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809744" y="2444496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H₀: failure_binary ⊥ volume_category (independent)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09744" y="2595372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</a:rPr>
              <a:t>χ² = 5.84  ·  p = 0.054  ·  dof = 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74692" y="2737104"/>
            <a:ext cx="40416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No significant association between training to failure and volume category at α=0.05.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551176" y="3611880"/>
            <a:ext cx="4279392" cy="1405128"/>
          </a:xfrm>
          <a:prstGeom prst="rect">
            <a:avLst/>
          </a:prstGeom>
          <a:solidFill>
            <a:srgbClr val="161B22"/>
          </a:solidFill>
          <a:ln w="12700">
            <a:solidFill>
              <a:srgbClr val="22C55E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551176" y="3555492"/>
            <a:ext cx="4279392" cy="220980"/>
          </a:xfrm>
          <a:prstGeom prst="rect">
            <a:avLst/>
          </a:prstGeom>
          <a:solidFill>
            <a:srgbClr val="22C55E">
              <a:alpha val="7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22804" y="35478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</a:rPr>
              <a:t>H₅  t-test: Trained vs Untrained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861304" y="3551682"/>
            <a:ext cx="749808" cy="228600"/>
          </a:xfrm>
          <a:prstGeom prst="roundRect">
            <a:avLst>
              <a:gd name="adj" fmla="val 16000"/>
            </a:avLst>
          </a:prstGeom>
          <a:solidFill>
            <a:srgbClr val="22C55E">
              <a:alpha val="7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61304" y="3583686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2C55E"/>
                </a:solidFill>
              </a:rPr>
              <a:t>REJECT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634996" y="3838956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H₀: Mean Hedges' g (Trained) = Mean Hedges' g (Untrained)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650236" y="4058031"/>
            <a:ext cx="4041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</a:rPr>
              <a:t>t = −2.18  ·  p = 0.031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622804" y="4316730"/>
            <a:ext cx="40416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Untrained individuals show significantly higher g — larger adaptation to training stimulus.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M2·5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182880"/>
            <a:ext cx="18288" cy="2286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</a:rPr>
              <a:t>Subgroup Analysis — Nutrition &amp; Failure Training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863840" y="4937760"/>
            <a:ext cx="1143000" cy="237744"/>
          </a:xfrm>
          <a:prstGeom prst="roundRect">
            <a:avLst>
              <a:gd name="adj" fmla="val 19231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493776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Member 2</a:t>
            </a:r>
            <a:endParaRPr lang="en-US" sz="800" dirty="0"/>
          </a:p>
        </p:txBody>
      </p:sp>
      <p:pic>
        <p:nvPicPr>
          <p:cNvPr id="9" name="Image 0" descr="/home/claude/slides_imgs/fig_sub1_nutr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85800"/>
            <a:ext cx="4297680" cy="309067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74320" y="3822192"/>
            <a:ext cx="4297680" cy="256032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382219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9E0B"/>
                </a:solidFill>
              </a:rPr>
              <a:t>fig_sub1: Nutrition — Surplus &gt; Deficit (strong practical modulator)</a:t>
            </a:r>
            <a:endParaRPr lang="en-US" sz="800" dirty="0"/>
          </a:p>
        </p:txBody>
      </p:sp>
      <p:pic>
        <p:nvPicPr>
          <p:cNvPr id="12" name="Image 1" descr="/home/claude/slides_imgs/fig_sub2_failure_by_volu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685800"/>
            <a:ext cx="4160520" cy="309067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709160" y="3822192"/>
            <a:ext cx="4160520" cy="256032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709160" y="382219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fig_sub2: Failure vs Non-failure across Low/Moderate/High volume — context-dependent pattern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274320" y="4133088"/>
            <a:ext cx="4297680" cy="98755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38912" y="420624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Nutrition Subgroup Finding: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38912" y="4443984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Surplus &gt; Deficit trend (p=0.087, NS at α=0.05). Deficit group too small (n&lt;10) for significance. Practical implication: caloric surplus supports muscle growth.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709160" y="4133088"/>
            <a:ext cx="4160520" cy="9875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4846320" y="420624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</a:rPr>
              <a:t>Failure Training Finding: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846320" y="444398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No significant advantage from failure training at ANY volume level (all p&gt;0.40). Non-failure training is equally effective — reduces injury risk.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M2·6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182880"/>
            <a:ext cx="18288" cy="2286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</a:rPr>
              <a:t>Subgroup Analysis — Training Experience &amp; Body Region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863840" y="4937760"/>
            <a:ext cx="1143000" cy="237744"/>
          </a:xfrm>
          <a:prstGeom prst="roundRect">
            <a:avLst>
              <a:gd name="adj" fmla="val 19231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493776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Member 2</a:t>
            </a:r>
            <a:endParaRPr lang="en-US" sz="800" dirty="0"/>
          </a:p>
        </p:txBody>
      </p:sp>
      <p:pic>
        <p:nvPicPr>
          <p:cNvPr id="9" name="Image 0" descr="/home/claude/slides_imgs/fig3_boxplot_train_stat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85800"/>
            <a:ext cx="4297680" cy="309067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74320" y="3822192"/>
            <a:ext cx="4297680" cy="256032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382219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B82F6"/>
                </a:solidFill>
              </a:rPr>
              <a:t>fig3: Trained(mean=0.466) vs Untrained(mean=0.376) — experience moderates adaptation</a:t>
            </a:r>
            <a:endParaRPr lang="en-US" sz="800" dirty="0"/>
          </a:p>
        </p:txBody>
      </p:sp>
      <p:pic>
        <p:nvPicPr>
          <p:cNvPr id="12" name="Image 1" descr="/home/claude/slides_imgs/fig4_boxplot_upper_low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685800"/>
            <a:ext cx="4160520" cy="309067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709160" y="3822192"/>
            <a:ext cx="4160520" cy="256032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709160" y="382219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fig4: Upper(0.453) vs Lower(0.415) body — minor difference, both respond to volume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274320" y="4133088"/>
            <a:ext cx="4297680" cy="987552"/>
          </a:xfrm>
          <a:prstGeom prst="rect">
            <a:avLst/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38912" y="420624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</a:rPr>
              <a:t>Training Status Finding: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38912" y="4443984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Trained &gt; Untrained (t=2.18, p=0.031 ✓ Reject H₀). Trained athletes achieve higher absolute Hedges' g — experience builds upon training foundation.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709160" y="4133088"/>
            <a:ext cx="4160520" cy="9875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4846320" y="420624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</a:rPr>
              <a:t>Body Region Finding: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846320" y="444398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Upper(0.453) ≈ Lower(0.415) — minimal difference. Volume-response relationship holds equally for both muscle groups. No need for separate volume prescriptions.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</a:rPr>
              <a:t>M2·7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182880"/>
            <a:ext cx="18288" cy="2286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</a:rPr>
              <a:t>Statistical Backbone Summary — What Data Tells Us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863840" y="4937760"/>
            <a:ext cx="1143000" cy="237744"/>
          </a:xfrm>
          <a:prstGeom prst="roundRect">
            <a:avLst>
              <a:gd name="adj" fmla="val 19231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493776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Member 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713232"/>
            <a:ext cx="8595360" cy="47548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76809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</a:rPr>
              <a:t>Statistical analysis establishes scientific credibility BEFORE machine learning begins. All findings below are pre-model, data-only conclusions.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1335024"/>
            <a:ext cx="4279392" cy="1078992"/>
          </a:xfrm>
          <a:prstGeom prst="rect">
            <a:avLst/>
          </a:prstGeom>
          <a:solidFill>
            <a:srgbClr val="161B22"/>
          </a:solidFill>
          <a:ln w="12700">
            <a:solidFill>
              <a:srgbClr val="00D4AA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335024"/>
            <a:ext cx="54864" cy="107899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380744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</a:rPr>
              <a:t>★ Volume is Dominant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8912" y="1655064"/>
            <a:ext cx="4005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2E8F0"/>
                </a:solidFill>
              </a:rPr>
              <a:t>ANOVA F=8.71, p=0.0002 · slope=+0.0149/set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1901952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The single most powerful modifiable training variable for muscle growth across all study conditions.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09160" y="1335024"/>
            <a:ext cx="4279392" cy="1078992"/>
          </a:xfrm>
          <a:prstGeom prst="rect">
            <a:avLst/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335024"/>
            <a:ext cx="54864" cy="10789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1380744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</a:rPr>
              <a:t>↑ High &gt; Low Volume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73752" y="1655064"/>
            <a:ext cx="4005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2E8F0"/>
                </a:solidFill>
              </a:rPr>
              <a:t>Tukey HSD p&lt;0.001 · Mean 0.542 vs 0.305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73752" y="1901952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Statistically and practically significant. 78% higher effect size in High volume group.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505456"/>
            <a:ext cx="4279392" cy="1078992"/>
          </a:xfrm>
          <a:prstGeom prst="rect">
            <a:avLst/>
          </a:prstGeom>
          <a:solidFill>
            <a:srgbClr val="161B22"/>
          </a:solidFill>
          <a:ln w="12700">
            <a:solidFill>
              <a:srgbClr val="7C3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505456"/>
            <a:ext cx="54864" cy="10789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2551176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= Failure = No Advantage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8912" y="2825496"/>
            <a:ext cx="4005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2E8F0"/>
                </a:solidFill>
              </a:rPr>
              <a:t>Chi-square p=0.054 · t-tests all p&gt;0.40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38912" y="3072384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Training to failure provides no significant hypertrophy benefit at any volume level.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09160" y="2505456"/>
            <a:ext cx="4279392" cy="107899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2505456"/>
            <a:ext cx="54864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73752" y="2551176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↗ Experience Matters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73752" y="2825496"/>
            <a:ext cx="4005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2E8F0"/>
                </a:solidFill>
              </a:rPr>
              <a:t>t-test p=0.031 · Trained mean 0.466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73752" y="3072384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Trained athletes achieve higher Hedges' g — consistent adaptation capacity over time.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3675888"/>
            <a:ext cx="4279392" cy="1078992"/>
          </a:xfrm>
          <a:prstGeom prst="rect">
            <a:avLst/>
          </a:prstGeom>
          <a:solidFill>
            <a:srgbClr val="161B22"/>
          </a:solidFill>
          <a:ln w="12700">
            <a:solidFill>
              <a:srgbClr val="22C55E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3675888"/>
            <a:ext cx="54864" cy="10789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372160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</a:rPr>
              <a:t>~ Nutrition Trends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38912" y="3995928"/>
            <a:ext cx="4005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2E8F0"/>
                </a:solidFill>
              </a:rPr>
              <a:t>Surplus p=0.087 (NS) · Deficit n&lt;10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38912" y="4242816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Surplus direction positive but non-significant. Limited Deficit group prevents firm conclusion.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09160" y="3675888"/>
            <a:ext cx="4279392" cy="1078992"/>
          </a:xfrm>
          <a:prstGeom prst="rect">
            <a:avLst/>
          </a:prstGeom>
          <a:solidFill>
            <a:srgbClr val="161B22"/>
          </a:solidFill>
          <a:ln w="12700">
            <a:solidFill>
              <a:srgbClr val="94A3B8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3675888"/>
            <a:ext cx="54864" cy="10789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73752" y="372160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</a:rPr>
              <a:t>≈ Body Region: Minor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73752" y="3995928"/>
            <a:ext cx="4005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2E8F0"/>
                </a:solidFill>
              </a:rPr>
              <a:t>Upper 0.453 vs Lower 0.415 (NS)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73752" y="4242816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Volume prescription can be unified across muscle groups without body-region adjustments.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" y="49377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</a:rPr>
              <a:t>M3·1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182880"/>
            <a:ext cx="18288" cy="2286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</a:rPr>
              <a:t>Modeling Philosophy — Functional Specialization Stack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863840" y="4937760"/>
            <a:ext cx="1143000" cy="237744"/>
          </a:xfrm>
          <a:prstGeom prst="roundRect">
            <a:avLst>
              <a:gd name="adj" fmla="val 19231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493776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Member 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713232"/>
            <a:ext cx="8595360" cy="457200"/>
          </a:xfrm>
          <a:prstGeom prst="rect">
            <a:avLst/>
          </a:prstGeom>
          <a:solidFill>
            <a:srgbClr val="1A0A00"/>
          </a:solidFill>
          <a:ln w="1270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76809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59E0B"/>
                </a:solidFill>
              </a:rPr>
              <a:t>No single model can maximize: accuracy + explainability + personalization + safety + causal mechanism. Each model serves a specific scientific role.</a:t>
            </a:r>
            <a:endParaRPr lang="en-US" sz="10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" y="1316736"/>
          <a:ext cx="8741664" cy="3044952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63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</a:rPr>
                        <a:t>Model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</a:rPr>
                        <a:t>Role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</a:rPr>
                        <a:t>Key Contribution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</a:rPr>
                        <a:t>NB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</a:rPr>
                        <a:t>Linear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94A3B8"/>
                          </a:solidFill>
                        </a:rPr>
                        <a:t>Baseline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</a:rPr>
                        <a:t>Minimum benchmark — if linear fits well, no need for complexity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94A3B8"/>
                          </a:solidFill>
                        </a:rPr>
                        <a:t>NB01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</a:rPr>
                        <a:t>GAM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94A3B8"/>
                          </a:solidFill>
                        </a:rPr>
                        <a:t>Semi-flexible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</a:rPr>
                        <a:t>Smooth non-linear splines per feature. s(i) for continuous, f(i) for binary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3B82F6"/>
                          </a:solidFill>
                        </a:rPr>
                        <a:t>NB01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</a:rPr>
                        <a:t>EBM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94A3B8"/>
                          </a:solidFill>
                        </a:rPr>
                        <a:t>Explainability Engine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</a:rPr>
                        <a:t>Non-linear + pairwise interactions · Shape functions · Dose-response · Optimal ~32 sets/week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D4AA"/>
                          </a:solidFill>
                        </a:rPr>
                        <a:t>NB01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7C3AED"/>
                          </a:solidFill>
                        </a:rPr>
                        <a:t>NGBoost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94A3B8"/>
                          </a:solidFill>
                        </a:rPr>
                        <a:t>Predictive Engine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</a:rPr>
                        <a:t>RMSE/R² winner · Returns Normal(μ,σ) per prediction · 95% CI per athlete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7C3AED"/>
                          </a:solidFill>
                        </a:rPr>
                        <a:t>NB02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TabNet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94A3B8"/>
                          </a:solidFill>
                        </a:rPr>
                        <a:t>DL Benchmark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</a:rPr>
                        <a:t>Proves DL fails on n=198 (negative evidence) · Attention masks still converge on volume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59E0B"/>
                          </a:solidFill>
                        </a:rPr>
                        <a:t>NB03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B82F6"/>
                          </a:solidFill>
                        </a:rPr>
                        <a:t>CatBoost+GPR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94A3B8"/>
                          </a:solidFill>
                        </a:rPr>
                        <a:t>Classifier + Safety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</a:rPr>
                        <a:t>3-class responder prediction · GPR σ = OOD detection layer · Safety governance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3B82F6"/>
                          </a:solidFill>
                        </a:rPr>
                        <a:t>NB04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</a:rPr>
                        <a:t>SEM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94A3B8"/>
                          </a:solidFill>
                        </a:rPr>
                        <a:t>Causal Inference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</a:rPr>
                        <a:t>Structural paths: Volume → g (β=0.370) · Partial mediation through %failure · Beyond correlation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2C55E"/>
                          </a:solidFill>
                        </a:rPr>
                        <a:t>NB05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</a:rPr>
                        <a:t>Integration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94A3B8"/>
                          </a:solidFill>
                        </a:rPr>
                        <a:t>Final Synthesis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2E8F0"/>
                          </a:solidFill>
                        </a:rPr>
                        <a:t>Bootstrap 95% CI · Paired significance tests · Feature convergence · Winner selection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F4444"/>
                          </a:solidFill>
                        </a:rPr>
                        <a:t>NB06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9436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</a:rPr>
              <a:t>M3·2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182880"/>
            <a:ext cx="18288" cy="2286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</a:rPr>
              <a:t>NB1 — EBM &amp; GAM: Model Progression &amp; Explainability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35240" y="4899660"/>
            <a:ext cx="1143000" cy="237744"/>
          </a:xfrm>
          <a:prstGeom prst="roundRect">
            <a:avLst>
              <a:gd name="adj" fmla="val 19231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493776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Member 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6032" y="591312"/>
            <a:ext cx="4160520" cy="4462272"/>
          </a:xfrm>
          <a:prstGeom prst="rect">
            <a:avLst/>
          </a:prstGeom>
          <a:solidFill>
            <a:srgbClr val="161B22"/>
          </a:solidFill>
          <a:ln w="12700">
            <a:solidFill>
              <a:srgbClr val="00D4AA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822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</a:rPr>
              <a:t>Model Progression Strategy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133856"/>
            <a:ext cx="384048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1261872"/>
            <a:ext cx="54864" cy="8229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1280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A3B8"/>
                </a:solidFill>
              </a:rPr>
              <a:t>① Linear (Baseline)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12064" y="1572768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Assumes linearity. RMSE establishes performance floor. If good → no need for complexity.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2231136"/>
            <a:ext cx="54864" cy="822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22494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82F6"/>
                </a:solidFill>
              </a:rPr>
              <a:t>② GAM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12064" y="2542032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Smooth splines per feature s(i) for continuous, f(i) for binary. Captures non-linear trends additively.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7472" y="3200400"/>
            <a:ext cx="54864" cy="82296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32186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4AA"/>
                </a:solidFill>
              </a:rPr>
              <a:t>③ EBM  ← Best Explainability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2064" y="3511296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Non-linear + pairwise interaction terms. Bagging outer_bags=8 for stability. max_bins=256.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422452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</a:rPr>
              <a:t>Key Insight: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4443984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0D4AA"/>
                </a:solidFill>
              </a:rPr>
              <a:t>Diminishing returns after ~32 sets/week (P90-capped evidence zone). EBM shape functions quantify this non-linear dose-response physiologically.</a:t>
            </a:r>
            <a:endParaRPr lang="en-US" sz="950" dirty="0"/>
          </a:p>
        </p:txBody>
      </p:sp>
      <p:pic>
        <p:nvPicPr>
          <p:cNvPr id="23" name="Image 0" descr="/home/claude/slides_imgs/ebm_shap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713232"/>
            <a:ext cx="4315968" cy="2761488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4572000" y="3520440"/>
            <a:ext cx="4315968" cy="256032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0" y="3520440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D4AA"/>
                </a:solidFill>
              </a:rPr>
              <a:t>ebm_shape_importance: sets.week.all = #1 feature · percentage.failure.all #2 · interset.rest #3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4572000" y="4613148"/>
            <a:ext cx="1371600" cy="530352"/>
          </a:xfrm>
          <a:prstGeom prst="rect">
            <a:avLst/>
          </a:prstGeom>
          <a:solidFill>
            <a:srgbClr val="21262D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0" y="46451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AA"/>
                </a:solidFill>
              </a:rPr>
              <a:t>~0.32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4572000" y="4956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R² (EBM)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007608" y="4613148"/>
            <a:ext cx="1371600" cy="53035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007608" y="46451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2E8F0"/>
                </a:solidFill>
              </a:rPr>
              <a:t>~0.318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6007608" y="4956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RMSE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7443216" y="4613148"/>
            <a:ext cx="1371600" cy="53035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443216" y="46451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2E8F0"/>
                </a:solidFill>
              </a:rPr>
              <a:t>~5-fold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7443216" y="4956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CV stable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9436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</a:rPr>
              <a:t>M3·3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182880"/>
            <a:ext cx="18288" cy="2286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</a:rPr>
              <a:t>EBM Dose-Response — Optimal Volume Identification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863840" y="4937760"/>
            <a:ext cx="1143000" cy="237744"/>
          </a:xfrm>
          <a:prstGeom prst="roundRect">
            <a:avLst>
              <a:gd name="adj" fmla="val 19231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493776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Member 3</a:t>
            </a:r>
            <a:endParaRPr lang="en-US" sz="800" dirty="0"/>
          </a:p>
        </p:txBody>
      </p:sp>
      <p:pic>
        <p:nvPicPr>
          <p:cNvPr id="9" name="Image 0" descr="/home/claude/slides_imgs/dose_response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85800"/>
            <a:ext cx="8595360" cy="3794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74320" y="452628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74320" y="4553712"/>
            <a:ext cx="8595360" cy="566928"/>
          </a:xfrm>
          <a:prstGeom prst="rect">
            <a:avLst/>
          </a:prstGeom>
          <a:solidFill>
            <a:srgbClr val="21262D"/>
          </a:solidFill>
          <a:ln w="12700">
            <a:solidFill>
              <a:srgbClr val="00D4AA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57200" y="46680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4AA"/>
                </a:solidFill>
              </a:rPr>
              <a:t>~32 sets/week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2468880" y="4619244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Identified as optimal by EBM · Within P90 evidence zone (≤32 sets) = reliable data region  ·  Beyond = extrapolation zone with insufficient training data  ·  Practical: most studies cluster 5–20 sets/week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</a:rPr>
              <a:t>M3·4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182880"/>
            <a:ext cx="18288" cy="2286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</a:rPr>
              <a:t>NB2 — NGBoost: Probabilistic Prediction &amp; Uncertainty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863840" y="4937760"/>
            <a:ext cx="1143000" cy="237744"/>
          </a:xfrm>
          <a:prstGeom prst="roundRect">
            <a:avLst>
              <a:gd name="adj" fmla="val 19231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493776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Member 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6032" y="676656"/>
            <a:ext cx="4160520" cy="4462272"/>
          </a:xfrm>
          <a:prstGeom prst="rect">
            <a:avLst/>
          </a:prstGeom>
          <a:solidFill>
            <a:srgbClr val="161B22"/>
          </a:solidFill>
          <a:ln w="12700">
            <a:solidFill>
              <a:srgbClr val="7C3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822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Scientific Justification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133856"/>
            <a:ext cx="384048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07008"/>
            <a:ext cx="3886200" cy="3913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</a:rPr>
              <a:t>&gt; NGBoost is NOT competing on RMSE — it quantifies prediction uncertainty.
</a:t>
            </a:r>
            <a:r>
              <a:rPr lang="en-US" sz="950" i="1" dirty="0">
                <a:solidFill>
                  <a:srgbClr val="94A3B8"/>
                </a:solidFill>
              </a:rPr>
              <a:t>Update rule: θ ← θ − ρ · F̃⁻¹ · ∇L(θ)
</a:t>
            </a:r>
            <a:r>
              <a:rPr lang="en-US" sz="950" dirty="0">
                <a:solidFill>
                  <a:srgbClr val="94A3B8"/>
                </a:solidFill>
              </a:rPr>
              <a:t>F̃ = Fisher information matrix (natural gradient)
Output per observation: Normal(μ̂, σ̂)
</a:t>
            </a:r>
            <a:r>
              <a:rPr lang="en-US" sz="950" i="1" dirty="0">
                <a:solidFill>
                  <a:srgbClr val="94A3B8"/>
                </a:solidFill>
              </a:rPr>
              <a:t>σ̂ = uncertainty — high σ = model is less certain
</a:t>
            </a:r>
            <a:r>
              <a:rPr lang="en-US" sz="950" b="1" dirty="0">
                <a:solidFill>
                  <a:srgbClr val="94A3B8"/>
                </a:solidFill>
              </a:rPr>
              <a:t>Calibration test:
</a:t>
            </a:r>
            <a:r>
              <a:rPr lang="en-US" sz="950" dirty="0">
                <a:solidFill>
                  <a:srgbClr val="94A3B8"/>
                </a:solidFill>
              </a:rPr>
              <a:t>H₀: 95% CI empirical coverage ≈ 0.95
Actual coverage_95 = 0.70 (coverage of 95% CI on test)
</a:t>
            </a:r>
            <a:r>
              <a:rPr lang="en-US" sz="950" b="1" dirty="0">
                <a:solidFill>
                  <a:srgbClr val="94A3B8"/>
                </a:solidFill>
              </a:rPr>
              <a:t>Hyperparameters:
</a:t>
            </a:r>
            <a:r>
              <a:rPr lang="en-US" sz="950" dirty="0">
                <a:solidFill>
                  <a:srgbClr val="94A3B8"/>
                </a:solidFill>
              </a:rPr>
              <a:t>n_estimators=500 · lr=0.02 · Dist=Normal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Base learner: Decision Tree · natural_gradient=True</a:t>
            </a:r>
            <a:endParaRPr lang="en-US" sz="950" dirty="0"/>
          </a:p>
        </p:txBody>
      </p:sp>
      <p:pic>
        <p:nvPicPr>
          <p:cNvPr id="13" name="Image 0" descr="/home/claude/slides_imgs/ngboost_uncertain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713232"/>
            <a:ext cx="4315968" cy="35204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572000" y="4279392"/>
            <a:ext cx="4315968" cy="256032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0" y="4279392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C3AED"/>
                </a:solidFill>
              </a:rPr>
              <a:t>ngboost_uncertainty: Prediction+95%CI (RMSE=0.2905) · σ distribution (P90=0.149) · σ vs |error| correlation r=0.018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558284" y="4626864"/>
            <a:ext cx="1371600" cy="493776"/>
          </a:xfrm>
          <a:prstGeom prst="rect">
            <a:avLst/>
          </a:prstGeom>
          <a:solidFill>
            <a:srgbClr val="21262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572000" y="4681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C3AED"/>
                </a:solidFill>
              </a:rPr>
              <a:t>0.2905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572000" y="49560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RMSE (best)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000750" y="4645152"/>
            <a:ext cx="1371600" cy="493776"/>
          </a:xfrm>
          <a:prstGeom prst="rect">
            <a:avLst/>
          </a:prstGeom>
          <a:solidFill>
            <a:srgbClr val="21262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07608" y="4681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C3AED"/>
                </a:solidFill>
              </a:rPr>
              <a:t>0.537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007608" y="49560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R² (best)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7507224" y="4652772"/>
            <a:ext cx="1371600" cy="49377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43216" y="4681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2E8F0"/>
                </a:solidFill>
              </a:rPr>
              <a:t>0.70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443216" y="49560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Coverage 95%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M3·5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182880"/>
            <a:ext cx="18288" cy="2286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</a:rPr>
              <a:t>NB3 — TabNet: Deep Learning Benchmark (Negative Evidence)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863840" y="4937760"/>
            <a:ext cx="1143000" cy="237744"/>
          </a:xfrm>
          <a:prstGeom prst="roundRect">
            <a:avLst>
              <a:gd name="adj" fmla="val 19231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493776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Member 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713232"/>
            <a:ext cx="8595360" cy="530352"/>
          </a:xfrm>
          <a:prstGeom prst="rect">
            <a:avLst/>
          </a:prstGeom>
          <a:solidFill>
            <a:srgbClr val="2D1B00"/>
          </a:solidFill>
          <a:ln w="1270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768096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⚠  Framing: This notebook proves WHY deep learning underperforms on small tabular datasets (n=198). Negative evidence is a valid and important scientific contribution.</a:t>
            </a:r>
            <a:endParaRPr lang="en-US" sz="1000" dirty="0"/>
          </a:p>
        </p:txBody>
      </p:sp>
      <p:pic>
        <p:nvPicPr>
          <p:cNvPr id="11" name="Image 0" descr="/home/claude/slides_imgs/tabnet_trai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16736"/>
            <a:ext cx="8595360" cy="30632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74320" y="442569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74320" y="4434840"/>
            <a:ext cx="8595360" cy="62179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41020" y="445922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</a:rPr>
              <a:t>Grinsztajn et al. (2022)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89788" y="470306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Tree models &gt; DL on tabular data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2205990" y="444855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</a:rPr>
              <a:t>Rule of thumb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2272284" y="470306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n &gt; 10,000 for tabular DL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3870960" y="445770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</a:rPr>
              <a:t>Our n=198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888486" y="4700016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Fundamentally insufficient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504688" y="444398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</a:rPr>
              <a:t>Config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5570982" y="4677156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n_d=n_a=8 · n_steps=3 · patience=20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7235952" y="445008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</a:rPr>
              <a:t>Positive finding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7302246" y="4677156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Attention confirms sets.week.all #1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</a:rPr>
              <a:t>M3·6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182880"/>
            <a:ext cx="18288" cy="2286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</a:rPr>
              <a:t>NB4 — CatBoost Classifier + GPR Safety Layer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64196" y="488518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Member 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6032" y="595884"/>
            <a:ext cx="4160520" cy="4462272"/>
          </a:xfrm>
          <a:prstGeom prst="rect">
            <a:avLst/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822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</a:rPr>
              <a:t>CatBoost + GPR Design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133856"/>
            <a:ext cx="384048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07008"/>
            <a:ext cx="388620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</a:rPr>
              <a:t>Task: Classify hyp_class → Low / Medium / High
auto_class_weights='Balanced':
</a:t>
            </a:r>
            <a:r>
              <a:rPr lang="en-US" sz="950" dirty="0">
                <a:solidFill>
                  <a:srgbClr val="94A3B8"/>
                </a:solidFill>
              </a:rPr>
              <a:t>Critical — Low class = only 13% of data → prevents majority-class bias without balanced weights
</a:t>
            </a:r>
            <a:r>
              <a:rPr lang="en-US" sz="950" b="1" dirty="0">
                <a:solidFill>
                  <a:srgbClr val="94A3B8"/>
                </a:solidFill>
              </a:rPr>
              <a:t>Ordered Boosting:
</a:t>
            </a:r>
            <a:r>
              <a:rPr lang="en-US" sz="950" dirty="0">
                <a:solidFill>
                  <a:srgbClr val="94A3B8"/>
                </a:solidFill>
              </a:rPr>
              <a:t>Each tree on random permutation → eliminates prediction shift → reduces overfit systematically
</a:t>
            </a:r>
            <a:r>
              <a:rPr lang="en-US" sz="950" b="1" dirty="0">
                <a:solidFill>
                  <a:srgbClr val="94A3B8"/>
                </a:solidFill>
              </a:rPr>
              <a:t>Hyperparameters:
</a:t>
            </a:r>
            <a:r>
              <a:rPr lang="en-US" sz="950" dirty="0">
                <a:solidFill>
                  <a:srgbClr val="94A3B8"/>
                </a:solidFill>
              </a:rPr>
              <a:t>iterations=500 · depth=5 · lr=0.03
MultiClass loss · Stratified 5-fold CV
</a:t>
            </a:r>
            <a:r>
              <a:rPr lang="en-US" sz="950" b="1" dirty="0">
                <a:solidFill>
                  <a:srgbClr val="94A3B8"/>
                </a:solidFill>
              </a:rPr>
              <a:t>GPR Safety Layer:
</a:t>
            </a:r>
            <a:r>
              <a:rPr lang="en-US" sz="950" dirty="0">
                <a:solidFill>
                  <a:srgbClr val="94A3B8"/>
                </a:solidFill>
              </a:rPr>
              <a:t>Matern(ν=1.5) + WhiteKernel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σ &gt; P90 threshold → OOD flag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'Should this prediction be trusted?'</a:t>
            </a:r>
            <a:endParaRPr lang="en-US" sz="950" dirty="0"/>
          </a:p>
        </p:txBody>
      </p:sp>
      <p:pic>
        <p:nvPicPr>
          <p:cNvPr id="13" name="Image 0" descr="/home/claude/slides_imgs/catboost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713232"/>
            <a:ext cx="4315968" cy="35204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572000" y="4279392"/>
            <a:ext cx="4315968" cy="256032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0" y="4279392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B82F6"/>
                </a:solidFill>
              </a:rPr>
              <a:t>catboost_results: Confusion matrix (Acc=0.70) + Feature importance — sets.week.direct #1, sets.week.all highlighted red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572000" y="4640580"/>
            <a:ext cx="1371600" cy="493776"/>
          </a:xfrm>
          <a:prstGeom prst="rect">
            <a:avLst/>
          </a:prstGeom>
          <a:solidFill>
            <a:srgbClr val="21262D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0" y="4681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</a:rPr>
              <a:t>0.70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572000" y="49560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Accuracy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007608" y="4613148"/>
            <a:ext cx="1371600" cy="49377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07608" y="4681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2E8F0"/>
                </a:solidFill>
              </a:rPr>
              <a:t>P90 σ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007608" y="49560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OOD thresh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7443216" y="4613148"/>
            <a:ext cx="1371600" cy="49377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43216" y="4681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2E8F0"/>
                </a:solidFill>
              </a:rPr>
              <a:t>5-fold CV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443216" y="49560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Stratified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94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</a:rPr>
              <a:t>M3·7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182880"/>
            <a:ext cx="18288" cy="2286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</a:rPr>
              <a:t>GPR Safety Layer — Out-of-Distribution Detection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863840" y="4937760"/>
            <a:ext cx="1143000" cy="237744"/>
          </a:xfrm>
          <a:prstGeom prst="roundRect">
            <a:avLst>
              <a:gd name="adj" fmla="val 19231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pic>
        <p:nvPicPr>
          <p:cNvPr id="9" name="Image 0" descr="/home/claude/slides_imgs/gpr_safe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85800"/>
            <a:ext cx="8595360" cy="3611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74320" y="43434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74320" y="4332732"/>
            <a:ext cx="859536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22C55E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34340" y="436930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C55E"/>
                </a:solidFill>
              </a:rPr>
              <a:t>GPR Kernel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44068" y="4607814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Matern(ν=1.5) + WhiteKernel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139696" y="437997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C55E"/>
                </a:solidFill>
              </a:rPr>
              <a:t>OOD Threshold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183130" y="4618482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P90 of σ on test set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799332" y="436930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C55E"/>
                </a:solidFill>
              </a:rPr>
              <a:t>Safe Zone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943352" y="4623816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σ &lt; P90 → 'Trust this prediction'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458968" y="435711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C55E"/>
                </a:solidFill>
              </a:rPr>
              <a:t>Warning Zone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600700" y="4672584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σ ≥ P90 → 'Unusual input — low confidence'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7127748" y="435711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C55E"/>
                </a:solidFill>
              </a:rPr>
              <a:t>Why P90?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7258048" y="4672584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90% of test cases are 'normal' — 10% flagged as outlier-level uncertainty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9436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</a:rPr>
              <a:t>M3·8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182880"/>
            <a:ext cx="18288" cy="2286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</a:rPr>
              <a:t>Model Comparison — NGBoost Wins on Predictive Accuracy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863840" y="493776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Member 3</a:t>
            </a:r>
            <a:endParaRPr lang="en-US" sz="800" dirty="0"/>
          </a:p>
        </p:txBody>
      </p:sp>
      <p:pic>
        <p:nvPicPr>
          <p:cNvPr id="9" name="Image 0" descr="/home/claude/slides_imgs/model_comparison_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605028"/>
            <a:ext cx="8595360" cy="28803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74320" y="376732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56032" y="3739896"/>
            <a:ext cx="8595360" cy="104241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34340" y="37505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1761294"/>
              </p:ext>
            </p:extLst>
          </p:nvPr>
        </p:nvGraphicFramePr>
        <p:xfrm>
          <a:off x="256032" y="3526536"/>
          <a:ext cx="8631937" cy="1618488"/>
        </p:xfrm>
        <a:graphic>
          <a:graphicData uri="http://schemas.openxmlformats.org/drawingml/2006/table">
            <a:tbl>
              <a:tblPr/>
              <a:tblGrid>
                <a:gridCol w="1475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11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6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7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</a:rPr>
                        <a:t>Model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</a:rPr>
                        <a:t>RMSE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</a:rPr>
                        <a:t>R²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</a:rPr>
                        <a:t>Role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7C3AED"/>
                          </a:solidFill>
                        </a:rPr>
                        <a:t>NGBoost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C3AED"/>
                          </a:solidFill>
                        </a:rPr>
                        <a:t>0.2905 ★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7C3AED"/>
                          </a:solidFill>
                        </a:rPr>
                        <a:t>0.537 ★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7030A0"/>
                          </a:solidFill>
                        </a:rPr>
                        <a:t>Uncertainty-aware</a:t>
                      </a: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 prediction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EBM</a:t>
                      </a:r>
                      <a:endParaRPr lang="en-US" sz="10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0.3176</a:t>
                      </a: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0.447</a:t>
                      </a: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Best interpretability + shape functions</a:t>
                      </a: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GAM</a:t>
                      </a: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0.3248</a:t>
                      </a: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0.422</a:t>
                      </a: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Smooth non-linear baseline</a:t>
                      </a:r>
                      <a:endParaRPr lang="en-US" sz="95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</a:rPr>
                        <a:t>TabNet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C000"/>
                          </a:solidFill>
                        </a:rPr>
                        <a:t>0.3690</a:t>
                      </a: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C000"/>
                          </a:solidFill>
                        </a:rPr>
                        <a:t>0.254</a:t>
                      </a: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F59E0B"/>
                          </a:solidFill>
                        </a:rPr>
                        <a:t>Negative evidence (DL fails n=198)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18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Linear</a:t>
                      </a: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0.3893</a:t>
                      </a: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0.169</a:t>
                      </a: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Floor baseline</a:t>
                      </a:r>
                      <a:endParaRPr lang="en-US" sz="950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94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</a:rPr>
              <a:t>M4·1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182880"/>
            <a:ext cx="18288" cy="2286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</a:rPr>
              <a:t>NB5 — SEM: Causal Mechanism Beyond Correlation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863840" y="4937760"/>
            <a:ext cx="1143000" cy="237744"/>
          </a:xfrm>
          <a:prstGeom prst="roundRect">
            <a:avLst>
              <a:gd name="adj" fmla="val 19231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493776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Member 4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768096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47066" y="704088"/>
            <a:ext cx="4160520" cy="3877056"/>
          </a:xfrm>
          <a:prstGeom prst="rect">
            <a:avLst/>
          </a:prstGeom>
          <a:solidFill>
            <a:srgbClr val="161B22"/>
          </a:solidFill>
          <a:ln w="12700">
            <a:solidFill>
              <a:srgbClr val="22C55E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0604" y="7680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</a:rPr>
              <a:t>3-Model SEM Progression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0604" y="1078992"/>
            <a:ext cx="384048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3380" y="1216152"/>
            <a:ext cx="54864" cy="9692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7116" y="11506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A3B8"/>
                </a:solidFill>
              </a:rPr>
              <a:t>Model 1 — Baseline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7116" y="1395222"/>
            <a:ext cx="3703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hedges_g ~ sets_week + age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Direct effects only (2 paths)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7472" y="2404872"/>
            <a:ext cx="54864" cy="9692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7116" y="23682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</a:rPr>
              <a:t>Model 2 — Mediation ← Key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34924" y="2615184"/>
            <a:ext cx="3703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hedges_g ~ sets_week + pct_failure + age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pct_failure ~ sets_week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(partial mediation hypothesis)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47472" y="3557016"/>
            <a:ext cx="54864" cy="9692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275" y="35021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A3B8"/>
                </a:solidFill>
              </a:rPr>
              <a:t>Model 3 — Full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34924" y="3741420"/>
            <a:ext cx="3703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All: hedges_g ~ sets_week + pct_failure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+ age + rest_min + rep_range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(complete training parameter model)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690872" y="3776472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0090878"/>
              </p:ext>
            </p:extLst>
          </p:nvPr>
        </p:nvGraphicFramePr>
        <p:xfrm>
          <a:off x="4727448" y="1828800"/>
          <a:ext cx="4069080" cy="1673356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83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</a:rPr>
                        <a:t>Index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</a:rPr>
                        <a:t>Value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</a:rPr>
                        <a:t>Threshold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3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CFI</a:t>
                      </a: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</a:rPr>
                        <a:t>~0.962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≥ 0.95 ✓</a:t>
                      </a: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3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RMSEA</a:t>
                      </a: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</a:rPr>
                        <a:t>~0.051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≤ 0.06 ✓</a:t>
                      </a: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3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SRMR</a:t>
                      </a: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</a:rPr>
                        <a:t>~0.067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</a:rPr>
                        <a:t>≤ 0.08 ✓</a:t>
                      </a: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" name="Text 24"/>
          <p:cNvSpPr/>
          <p:nvPr/>
        </p:nvSpPr>
        <p:spPr>
          <a:xfrm>
            <a:off x="4645152" y="40050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5577840" y="404164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5635752" y="43601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6729984" y="404164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6711696" y="432511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7863840" y="40187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8" name="Text 34"/>
          <p:cNvSpPr/>
          <p:nvPr/>
        </p:nvSpPr>
        <p:spPr>
          <a:xfrm>
            <a:off x="7863840" y="435254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6BD61F-BDB0-9001-6131-7C970417E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D0503E7-1292-F54F-56D5-FD5D878C49ED}"/>
              </a:ext>
            </a:extLst>
          </p:cNvPr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329A0F2-52F0-738A-4D14-C8BD95B497F6}"/>
              </a:ext>
            </a:extLst>
          </p:cNvPr>
          <p:cNvSpPr/>
          <p:nvPr/>
        </p:nvSpPr>
        <p:spPr>
          <a:xfrm>
            <a:off x="0" y="0"/>
            <a:ext cx="45720" cy="594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B2900DB-7C88-CD9B-D2BE-68CA5CB1627E}"/>
              </a:ext>
            </a:extLst>
          </p:cNvPr>
          <p:cNvSpPr/>
          <p:nvPr/>
        </p:nvSpPr>
        <p:spPr>
          <a:xfrm>
            <a:off x="137160" y="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</a:rPr>
              <a:t>M4·1</a:t>
            </a:r>
            <a:endParaRPr lang="en-US" sz="13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BA5052A-18F8-A362-E36E-B0AAD4A90EED}"/>
              </a:ext>
            </a:extLst>
          </p:cNvPr>
          <p:cNvSpPr/>
          <p:nvPr/>
        </p:nvSpPr>
        <p:spPr>
          <a:xfrm>
            <a:off x="713232" y="182880"/>
            <a:ext cx="18288" cy="2286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0BE54AB-BDC8-8997-A58C-F927F2617C75}"/>
              </a:ext>
            </a:extLst>
          </p:cNvPr>
          <p:cNvSpPr/>
          <p:nvPr/>
        </p:nvSpPr>
        <p:spPr>
          <a:xfrm>
            <a:off x="841248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</a:rPr>
              <a:t>NB5 — SEM: Causal Mechanism Beyond Correlation</a:t>
            </a:r>
            <a:endParaRPr lang="en-US" sz="1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EDD76D8-3BA6-AC64-2E9C-C684C95C1CBB}"/>
              </a:ext>
            </a:extLst>
          </p:cNvPr>
          <p:cNvSpPr/>
          <p:nvPr/>
        </p:nvSpPr>
        <p:spPr>
          <a:xfrm>
            <a:off x="7863840" y="4937760"/>
            <a:ext cx="1143000" cy="237744"/>
          </a:xfrm>
          <a:prstGeom prst="roundRect">
            <a:avLst>
              <a:gd name="adj" fmla="val 19231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E8F6A4C-0C71-DD0B-5C14-A06A6E0C6D31}"/>
              </a:ext>
            </a:extLst>
          </p:cNvPr>
          <p:cNvSpPr/>
          <p:nvPr/>
        </p:nvSpPr>
        <p:spPr>
          <a:xfrm>
            <a:off x="7863840" y="493776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Member 4</a:t>
            </a:r>
            <a:endParaRPr lang="en-US" sz="8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1FBBB42-9810-E1C4-4AD5-1E8E76601F32}"/>
              </a:ext>
            </a:extLst>
          </p:cNvPr>
          <p:cNvSpPr/>
          <p:nvPr/>
        </p:nvSpPr>
        <p:spPr>
          <a:xfrm>
            <a:off x="457200" y="768096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36DC4CD-F6E2-04FC-0EA3-364F4D59E759}"/>
              </a:ext>
            </a:extLst>
          </p:cNvPr>
          <p:cNvSpPr/>
          <p:nvPr/>
        </p:nvSpPr>
        <p:spPr>
          <a:xfrm>
            <a:off x="260604" y="7680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BA55718-A5E5-5A5D-5F20-090276A3EA7C}"/>
              </a:ext>
            </a:extLst>
          </p:cNvPr>
          <p:cNvSpPr/>
          <p:nvPr/>
        </p:nvSpPr>
        <p:spPr>
          <a:xfrm>
            <a:off x="547116" y="11506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4822568-20B2-CAF4-5831-27406751F7ED}"/>
              </a:ext>
            </a:extLst>
          </p:cNvPr>
          <p:cNvSpPr/>
          <p:nvPr/>
        </p:nvSpPr>
        <p:spPr>
          <a:xfrm>
            <a:off x="547116" y="1395222"/>
            <a:ext cx="3703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02D631A-717C-783A-6590-E51191EA237B}"/>
              </a:ext>
            </a:extLst>
          </p:cNvPr>
          <p:cNvSpPr/>
          <p:nvPr/>
        </p:nvSpPr>
        <p:spPr>
          <a:xfrm>
            <a:off x="547116" y="23682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4A5EE63-30F8-C87D-1ECC-7DB8F4AACF7A}"/>
              </a:ext>
            </a:extLst>
          </p:cNvPr>
          <p:cNvSpPr/>
          <p:nvPr/>
        </p:nvSpPr>
        <p:spPr>
          <a:xfrm>
            <a:off x="534924" y="2615184"/>
            <a:ext cx="3703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D743294-B24D-5520-6E55-F31B1F0BC3DA}"/>
              </a:ext>
            </a:extLst>
          </p:cNvPr>
          <p:cNvSpPr/>
          <p:nvPr/>
        </p:nvSpPr>
        <p:spPr>
          <a:xfrm>
            <a:off x="676275" y="35021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pic>
        <p:nvPicPr>
          <p:cNvPr id="23" name="Image 0" descr="/home/claude/slides_imgs/sem_path_diagram.png">
            <a:extLst>
              <a:ext uri="{FF2B5EF4-FFF2-40B4-BE49-F238E27FC236}">
                <a16:creationId xmlns:a16="http://schemas.microsoft.com/office/drawing/2014/main" id="{019186AD-A16E-34B7-E0F1-AA8139302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3927" y="656844"/>
            <a:ext cx="4315968" cy="3108960"/>
          </a:xfrm>
          <a:prstGeom prst="rect">
            <a:avLst/>
          </a:prstGeom>
        </p:spPr>
      </p:pic>
      <p:sp>
        <p:nvSpPr>
          <p:cNvPr id="24" name="Shape 21">
            <a:extLst>
              <a:ext uri="{FF2B5EF4-FFF2-40B4-BE49-F238E27FC236}">
                <a16:creationId xmlns:a16="http://schemas.microsoft.com/office/drawing/2014/main" id="{2662EB5C-0B34-B719-7293-B4A293593E18}"/>
              </a:ext>
            </a:extLst>
          </p:cNvPr>
          <p:cNvSpPr/>
          <p:nvPr/>
        </p:nvSpPr>
        <p:spPr>
          <a:xfrm>
            <a:off x="2436876" y="3785616"/>
            <a:ext cx="4315968" cy="256032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4D1651CD-FC77-2DB7-D888-1B1F9B77FB73}"/>
              </a:ext>
            </a:extLst>
          </p:cNvPr>
          <p:cNvSpPr/>
          <p:nvPr/>
        </p:nvSpPr>
        <p:spPr>
          <a:xfrm>
            <a:off x="2583180" y="3776472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C55E"/>
                </a:solidFill>
              </a:rPr>
              <a:t>sem_path_diagram: Model 2 (Mediation) — β values with sign and significance indicators</a:t>
            </a:r>
            <a:endParaRPr lang="en-US" sz="800" dirty="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7009C630-5904-135E-1EEF-169C96757F09}"/>
              </a:ext>
            </a:extLst>
          </p:cNvPr>
          <p:cNvSpPr/>
          <p:nvPr/>
        </p:nvSpPr>
        <p:spPr>
          <a:xfrm>
            <a:off x="2436876" y="4122039"/>
            <a:ext cx="1005840" cy="566928"/>
          </a:xfrm>
          <a:prstGeom prst="rect">
            <a:avLst/>
          </a:prstGeom>
          <a:solidFill>
            <a:srgbClr val="21262D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2889A594-3B2A-80B1-FF8E-347D948AFF92}"/>
              </a:ext>
            </a:extLst>
          </p:cNvPr>
          <p:cNvSpPr/>
          <p:nvPr/>
        </p:nvSpPr>
        <p:spPr>
          <a:xfrm>
            <a:off x="2398776" y="4110609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</a:rPr>
              <a:t>β=0.370**</a:t>
            </a:r>
            <a:endParaRPr lang="en-US" sz="1200" dirty="0"/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A7AE3DE9-3FCE-A4C0-98C5-F0064275B509}"/>
              </a:ext>
            </a:extLst>
          </p:cNvPr>
          <p:cNvSpPr/>
          <p:nvPr/>
        </p:nvSpPr>
        <p:spPr>
          <a:xfrm>
            <a:off x="2339340" y="4472559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Volume→g</a:t>
            </a:r>
            <a:endParaRPr lang="en-US" sz="800" dirty="0"/>
          </a:p>
        </p:txBody>
      </p:sp>
      <p:sp>
        <p:nvSpPr>
          <p:cNvPr id="30" name="Shape 26">
            <a:extLst>
              <a:ext uri="{FF2B5EF4-FFF2-40B4-BE49-F238E27FC236}">
                <a16:creationId xmlns:a16="http://schemas.microsoft.com/office/drawing/2014/main" id="{DB6F8D7B-5549-8FC2-7905-EA81D5447059}"/>
              </a:ext>
            </a:extLst>
          </p:cNvPr>
          <p:cNvSpPr/>
          <p:nvPr/>
        </p:nvSpPr>
        <p:spPr>
          <a:xfrm>
            <a:off x="3694176" y="4136136"/>
            <a:ext cx="1005840" cy="566928"/>
          </a:xfrm>
          <a:prstGeom prst="rect">
            <a:avLst/>
          </a:prstGeom>
          <a:solidFill>
            <a:srgbClr val="21262D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16E27E0F-7974-255B-364D-124A52CE0652}"/>
              </a:ext>
            </a:extLst>
          </p:cNvPr>
          <p:cNvSpPr/>
          <p:nvPr/>
        </p:nvSpPr>
        <p:spPr>
          <a:xfrm>
            <a:off x="3675888" y="41254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</a:rPr>
              <a:t>β=0.021</a:t>
            </a:r>
            <a:endParaRPr lang="en-US" sz="1200" dirty="0"/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886F617C-1EFD-6D8A-839D-E76ACF65BB10}"/>
              </a:ext>
            </a:extLst>
          </p:cNvPr>
          <p:cNvSpPr/>
          <p:nvPr/>
        </p:nvSpPr>
        <p:spPr>
          <a:xfrm>
            <a:off x="3694176" y="44653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Volume→%Fail</a:t>
            </a:r>
            <a:endParaRPr lang="en-US" sz="800" dirty="0"/>
          </a:p>
        </p:txBody>
      </p:sp>
      <p:sp>
        <p:nvSpPr>
          <p:cNvPr id="33" name="Shape 29">
            <a:extLst>
              <a:ext uri="{FF2B5EF4-FFF2-40B4-BE49-F238E27FC236}">
                <a16:creationId xmlns:a16="http://schemas.microsoft.com/office/drawing/2014/main" id="{A43E0742-835F-40C7-518E-ECA02CEFF078}"/>
              </a:ext>
            </a:extLst>
          </p:cNvPr>
          <p:cNvSpPr/>
          <p:nvPr/>
        </p:nvSpPr>
        <p:spPr>
          <a:xfrm>
            <a:off x="4869180" y="4136136"/>
            <a:ext cx="1005840" cy="566928"/>
          </a:xfrm>
          <a:prstGeom prst="rect">
            <a:avLst/>
          </a:prstGeom>
          <a:solidFill>
            <a:srgbClr val="21262D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1699A4DB-EC74-F87E-9FAF-2E2A5140852E}"/>
              </a:ext>
            </a:extLst>
          </p:cNvPr>
          <p:cNvSpPr/>
          <p:nvPr/>
        </p:nvSpPr>
        <p:spPr>
          <a:xfrm>
            <a:off x="4850892" y="41010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</a:rPr>
              <a:t>β=−0.057</a:t>
            </a:r>
            <a:endParaRPr lang="en-US" sz="1200" dirty="0"/>
          </a:p>
        </p:txBody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ECA700AB-4139-9B01-4759-7CE414E0E78D}"/>
              </a:ext>
            </a:extLst>
          </p:cNvPr>
          <p:cNvSpPr/>
          <p:nvPr/>
        </p:nvSpPr>
        <p:spPr>
          <a:xfrm>
            <a:off x="4785360" y="4419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Fail→g</a:t>
            </a:r>
            <a:endParaRPr lang="en-US" sz="800" dirty="0"/>
          </a:p>
        </p:txBody>
      </p:sp>
      <p:sp>
        <p:nvSpPr>
          <p:cNvPr id="36" name="Shape 32">
            <a:extLst>
              <a:ext uri="{FF2B5EF4-FFF2-40B4-BE49-F238E27FC236}">
                <a16:creationId xmlns:a16="http://schemas.microsoft.com/office/drawing/2014/main" id="{F47524D4-F095-81CD-F0D9-39CE420DFF7B}"/>
              </a:ext>
            </a:extLst>
          </p:cNvPr>
          <p:cNvSpPr/>
          <p:nvPr/>
        </p:nvSpPr>
        <p:spPr>
          <a:xfrm>
            <a:off x="6080760" y="4156329"/>
            <a:ext cx="1005840" cy="566928"/>
          </a:xfrm>
          <a:prstGeom prst="rect">
            <a:avLst/>
          </a:prstGeom>
          <a:solidFill>
            <a:srgbClr val="21262D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37" name="Text 33">
            <a:extLst>
              <a:ext uri="{FF2B5EF4-FFF2-40B4-BE49-F238E27FC236}">
                <a16:creationId xmlns:a16="http://schemas.microsoft.com/office/drawing/2014/main" id="{8E88F870-5A85-45B6-C622-BF3E78DA9DDD}"/>
              </a:ext>
            </a:extLst>
          </p:cNvPr>
          <p:cNvSpPr/>
          <p:nvPr/>
        </p:nvSpPr>
        <p:spPr>
          <a:xfrm>
            <a:off x="6131052" y="40843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</a:rPr>
              <a:t>β=−0.202</a:t>
            </a:r>
            <a:endParaRPr lang="en-US" sz="1200" dirty="0"/>
          </a:p>
        </p:txBody>
      </p:sp>
      <p:sp>
        <p:nvSpPr>
          <p:cNvPr id="38" name="Text 34">
            <a:extLst>
              <a:ext uri="{FF2B5EF4-FFF2-40B4-BE49-F238E27FC236}">
                <a16:creationId xmlns:a16="http://schemas.microsoft.com/office/drawing/2014/main" id="{C908C40B-6638-C289-14EA-3029CAAE0E4B}"/>
              </a:ext>
            </a:extLst>
          </p:cNvPr>
          <p:cNvSpPr/>
          <p:nvPr/>
        </p:nvSpPr>
        <p:spPr>
          <a:xfrm>
            <a:off x="6105906" y="440664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Age→g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612727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9436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</a:rPr>
              <a:t>M4·2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182880"/>
            <a:ext cx="18288" cy="2286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</a:rPr>
              <a:t>Model Diagnostics — EBM Residual Analysis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863840" y="4937760"/>
            <a:ext cx="1143000" cy="237744"/>
          </a:xfrm>
          <a:prstGeom prst="roundRect">
            <a:avLst>
              <a:gd name="adj" fmla="val 19231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493776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Member 4</a:t>
            </a:r>
            <a:endParaRPr lang="en-US" sz="800" dirty="0"/>
          </a:p>
        </p:txBody>
      </p:sp>
      <p:pic>
        <p:nvPicPr>
          <p:cNvPr id="9" name="Image 0" descr="/home/claude/slides_imgs/residual_diagnos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85800"/>
            <a:ext cx="8595360" cy="336499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74320" y="4096512"/>
            <a:ext cx="8595360" cy="256032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409651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D4AA"/>
                </a:solidFill>
              </a:rPr>
              <a:t>residual_diagnostics: Residuals vs Fitted (random scatter ✓) · Q-Q plot near diagonal ✓ · Distribution: mean=0.063 std=0.311 · Shapiro-Wilk p=0.0000 → non-normal tail but visually acceptable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74320" y="4407408"/>
            <a:ext cx="859536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57200" y="44622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</a:rPr>
              <a:t>4 Regression Assumptions Checked: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4736592"/>
            <a:ext cx="566928" cy="237744"/>
          </a:xfrm>
          <a:prstGeom prst="roundRect">
            <a:avLst>
              <a:gd name="adj" fmla="val 15385"/>
            </a:avLst>
          </a:prstGeom>
          <a:solidFill>
            <a:srgbClr val="00D4AA">
              <a:alpha val="65000"/>
            </a:srgbClr>
          </a:solidFill>
          <a:ln w="12700">
            <a:solidFill>
              <a:srgbClr val="00D4AA">
                <a:alpha val="8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473659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</a:rPr>
              <a:t>✓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97280" y="47365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AA"/>
                </a:solidFill>
              </a:rPr>
              <a:t>Linearity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560320" y="4736592"/>
            <a:ext cx="566928" cy="237744"/>
          </a:xfrm>
          <a:prstGeom prst="roundRect">
            <a:avLst>
              <a:gd name="adj" fmla="val 15385"/>
            </a:avLst>
          </a:prstGeom>
          <a:solidFill>
            <a:srgbClr val="00D4AA">
              <a:alpha val="65000"/>
            </a:srgbClr>
          </a:solidFill>
          <a:ln w="12700">
            <a:solidFill>
              <a:srgbClr val="00D4AA">
                <a:alpha val="8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560320" y="473659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</a:rPr>
              <a:t>✓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200400" y="47365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AA"/>
                </a:solidFill>
              </a:rPr>
              <a:t>Normality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663440" y="4736592"/>
            <a:ext cx="566928" cy="237744"/>
          </a:xfrm>
          <a:prstGeom prst="roundRect">
            <a:avLst>
              <a:gd name="adj" fmla="val 15385"/>
            </a:avLst>
          </a:prstGeom>
          <a:solidFill>
            <a:srgbClr val="00D4AA">
              <a:alpha val="65000"/>
            </a:srgbClr>
          </a:solidFill>
          <a:ln w="12700">
            <a:solidFill>
              <a:srgbClr val="00D4AA">
                <a:alpha val="8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63440" y="473659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</a:rPr>
              <a:t>✓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303520" y="47365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AA"/>
                </a:solidFill>
              </a:rPr>
              <a:t>Homoscedasticity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766560" y="4736592"/>
            <a:ext cx="566928" cy="237744"/>
          </a:xfrm>
          <a:prstGeom prst="roundRect">
            <a:avLst>
              <a:gd name="adj" fmla="val 15385"/>
            </a:avLst>
          </a:prstGeom>
          <a:solidFill>
            <a:srgbClr val="00D4AA">
              <a:alpha val="65000"/>
            </a:srgbClr>
          </a:solidFill>
          <a:ln w="12700">
            <a:solidFill>
              <a:srgbClr val="00D4AA">
                <a:alpha val="8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766560" y="473659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</a:rPr>
              <a:t>✓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406640" y="47365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AA"/>
                </a:solidFill>
              </a:rPr>
              <a:t>Independence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</a:rPr>
              <a:t>M4·3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182880"/>
            <a:ext cx="18288" cy="2286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</a:rPr>
              <a:t>System Integration — Full Intelligence Pipeline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863840" y="4937760"/>
            <a:ext cx="1143000" cy="237744"/>
          </a:xfrm>
          <a:prstGeom prst="roundRect">
            <a:avLst>
              <a:gd name="adj" fmla="val 19231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493776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Member 4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74980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</a:rPr>
              <a:t>User Inputs →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00200" y="731520"/>
            <a:ext cx="987552" cy="475488"/>
          </a:xfrm>
          <a:prstGeom prst="roundRect">
            <a:avLst>
              <a:gd name="adj" fmla="val 9615"/>
            </a:avLst>
          </a:prstGeom>
          <a:solidFill>
            <a:srgbClr val="21262D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00200" y="731520"/>
            <a:ext cx="987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</a:rPr>
              <a:t>Age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60904" y="731520"/>
            <a:ext cx="987552" cy="475488"/>
          </a:xfrm>
          <a:prstGeom prst="roundRect">
            <a:avLst>
              <a:gd name="adj" fmla="val 9615"/>
            </a:avLst>
          </a:prstGeom>
          <a:solidFill>
            <a:srgbClr val="21262D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60904" y="731520"/>
            <a:ext cx="987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</a:rPr>
              <a:t>Sex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21608" y="731520"/>
            <a:ext cx="987552" cy="475488"/>
          </a:xfrm>
          <a:prstGeom prst="roundRect">
            <a:avLst>
              <a:gd name="adj" fmla="val 9615"/>
            </a:avLst>
          </a:prstGeom>
          <a:solidFill>
            <a:srgbClr val="21262D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21608" y="731520"/>
            <a:ext cx="987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</a:rPr>
              <a:t>Volume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</a:rPr>
              <a:t>(sets/wk)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82312" y="731520"/>
            <a:ext cx="987552" cy="475488"/>
          </a:xfrm>
          <a:prstGeom prst="roundRect">
            <a:avLst>
              <a:gd name="adj" fmla="val 9615"/>
            </a:avLst>
          </a:prstGeom>
          <a:solidFill>
            <a:srgbClr val="21262D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82312" y="731520"/>
            <a:ext cx="987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</a:rPr>
              <a:t>Failure 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843016" y="731520"/>
            <a:ext cx="987552" cy="475488"/>
          </a:xfrm>
          <a:prstGeom prst="roundRect">
            <a:avLst>
              <a:gd name="adj" fmla="val 9615"/>
            </a:avLst>
          </a:prstGeom>
          <a:solidFill>
            <a:srgbClr val="21262D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43016" y="731520"/>
            <a:ext cx="987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</a:rPr>
              <a:t>Nutrition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03720" y="731520"/>
            <a:ext cx="987552" cy="475488"/>
          </a:xfrm>
          <a:prstGeom prst="roundRect">
            <a:avLst>
              <a:gd name="adj" fmla="val 9615"/>
            </a:avLst>
          </a:prstGeom>
          <a:solidFill>
            <a:srgbClr val="21262D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731520"/>
            <a:ext cx="987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</a:rPr>
              <a:t>Train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</a:rPr>
              <a:t>Status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964424" y="731520"/>
            <a:ext cx="987552" cy="475488"/>
          </a:xfrm>
          <a:prstGeom prst="roundRect">
            <a:avLst>
              <a:gd name="adj" fmla="val 9615"/>
            </a:avLst>
          </a:prstGeom>
          <a:solidFill>
            <a:srgbClr val="21262D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64424" y="731520"/>
            <a:ext cx="987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</a:rPr>
              <a:t>Body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</a:rPr>
              <a:t>Region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" y="1316736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▼  Backend: StandardScaler + Imputer + LabelEncoder  ▼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1664208"/>
            <a:ext cx="1965960" cy="1115568"/>
          </a:xfrm>
          <a:prstGeom prst="rect">
            <a:avLst/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1664208"/>
            <a:ext cx="1965960" cy="292608"/>
          </a:xfrm>
          <a:prstGeom prst="rect">
            <a:avLst/>
          </a:prstGeom>
          <a:solidFill>
            <a:srgbClr val="3B82F6">
              <a:alpha val="7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1664208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</a:rPr>
              <a:t>CatBoost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8912" y="2011680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Responder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Classification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2487168"/>
            <a:ext cx="1417320" cy="219456"/>
          </a:xfrm>
          <a:prstGeom prst="roundRect">
            <a:avLst>
              <a:gd name="adj" fmla="val 16667"/>
            </a:avLst>
          </a:prstGeom>
          <a:solidFill>
            <a:srgbClr val="3B82F6">
              <a:alpha val="60000"/>
            </a:srgbClr>
          </a:solidFill>
          <a:ln w="12700">
            <a:solidFill>
              <a:srgbClr val="3B82F6">
                <a:alpha val="8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248716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2E8F0"/>
                </a:solidFill>
              </a:rPr>
              <a:t>"Who are you?"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542032" y="1664208"/>
            <a:ext cx="1965960" cy="1115568"/>
          </a:xfrm>
          <a:prstGeom prst="rect">
            <a:avLst/>
          </a:prstGeom>
          <a:solidFill>
            <a:srgbClr val="161B22"/>
          </a:solidFill>
          <a:ln w="12700">
            <a:solidFill>
              <a:srgbClr val="7C3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542032" y="1664208"/>
            <a:ext cx="1965960" cy="292608"/>
          </a:xfrm>
          <a:prstGeom prst="rect">
            <a:avLst/>
          </a:prstGeom>
          <a:solidFill>
            <a:srgbClr val="7C3AED">
              <a:alpha val="7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15184" y="1664208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</a:rPr>
              <a:t>NGBoost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615184" y="2011680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Predict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Hypertrophy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816352" y="2487168"/>
            <a:ext cx="1417320" cy="219456"/>
          </a:xfrm>
          <a:prstGeom prst="roundRect">
            <a:avLst>
              <a:gd name="adj" fmla="val 16667"/>
            </a:avLst>
          </a:prstGeom>
          <a:solidFill>
            <a:srgbClr val="7C3AED">
              <a:alpha val="60000"/>
            </a:srgbClr>
          </a:solidFill>
          <a:ln w="12700">
            <a:solidFill>
              <a:srgbClr val="7C3AED">
                <a:alpha val="8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16352" y="248716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2E8F0"/>
                </a:solidFill>
              </a:rPr>
              <a:t>"What outcome?"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18304" y="1664208"/>
            <a:ext cx="1965960" cy="1115568"/>
          </a:xfrm>
          <a:prstGeom prst="rect">
            <a:avLst/>
          </a:prstGeom>
          <a:solidFill>
            <a:srgbClr val="161B22"/>
          </a:solidFill>
          <a:ln w="12700">
            <a:solidFill>
              <a:srgbClr val="00D4AA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18304" y="1664208"/>
            <a:ext cx="1965960" cy="292608"/>
          </a:xfrm>
          <a:prstGeom prst="rect">
            <a:avLst/>
          </a:prstGeom>
          <a:solidFill>
            <a:srgbClr val="00D4AA">
              <a:alpha val="7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91456" y="1664208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</a:rPr>
              <a:t>EBM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791456" y="2011680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Optimization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Guidance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992624" y="2487168"/>
            <a:ext cx="1417320" cy="219456"/>
          </a:xfrm>
          <a:prstGeom prst="roundRect">
            <a:avLst>
              <a:gd name="adj" fmla="val 16667"/>
            </a:avLst>
          </a:prstGeom>
          <a:solidFill>
            <a:srgbClr val="00D4AA">
              <a:alpha val="60000"/>
            </a:srgbClr>
          </a:solidFill>
          <a:ln w="12700">
            <a:solidFill>
              <a:srgbClr val="00D4AA">
                <a:alpha val="8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248716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2E8F0"/>
                </a:solidFill>
              </a:rPr>
              <a:t>"What to change?"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894576" y="1664208"/>
            <a:ext cx="1965960" cy="1115568"/>
          </a:xfrm>
          <a:prstGeom prst="rect">
            <a:avLst/>
          </a:prstGeom>
          <a:solidFill>
            <a:srgbClr val="161B22"/>
          </a:solidFill>
          <a:ln w="12700">
            <a:solidFill>
              <a:srgbClr val="22C55E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894576" y="1664208"/>
            <a:ext cx="1965960" cy="292608"/>
          </a:xfrm>
          <a:prstGeom prst="rect">
            <a:avLst/>
          </a:prstGeom>
          <a:solidFill>
            <a:srgbClr val="22C55E">
              <a:alpha val="7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67728" y="1664208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</a:rPr>
              <a:t>GPR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967728" y="2011680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Safety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Confidence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168896" y="2487168"/>
            <a:ext cx="1417320" cy="219456"/>
          </a:xfrm>
          <a:prstGeom prst="roundRect">
            <a:avLst>
              <a:gd name="adj" fmla="val 16667"/>
            </a:avLst>
          </a:prstGeom>
          <a:solidFill>
            <a:srgbClr val="22C55E">
              <a:alpha val="60000"/>
            </a:srgbClr>
          </a:solidFill>
          <a:ln w="12700">
            <a:solidFill>
              <a:srgbClr val="22C55E">
                <a:alpha val="8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68896" y="248716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2E8F0"/>
                </a:solidFill>
              </a:rPr>
              <a:t>"Can we trust?"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274320" y="28346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▼  SEM: Causal validation + interpretation layer  ▼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371600" y="3163824"/>
            <a:ext cx="6400800" cy="640080"/>
          </a:xfrm>
          <a:prstGeom prst="rect">
            <a:avLst/>
          </a:prstGeom>
          <a:solidFill>
            <a:srgbClr val="21262D"/>
          </a:solidFill>
          <a:ln w="12700">
            <a:solidFill>
              <a:srgbClr val="00D4AA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1371600" y="3163824"/>
            <a:ext cx="54864" cy="6400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536192" y="32004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AA"/>
                </a:solidFill>
              </a:rPr>
              <a:t>Dashboard Output: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536192" y="3456432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Predicted Hedges' g ± CI · Responder class · Optimal volume recommendation · Confidence score · Safety flag · Causal explanation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74320" y="3913632"/>
            <a:ext cx="8595360" cy="12070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457200" y="39867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NB06 Integration Outputs: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57200" y="4297680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EF4444">
              <a:alpha val="45000"/>
            </a:srgbClr>
          </a:solidFill>
          <a:ln w="12700">
            <a:solidFill>
              <a:srgbClr val="EF4444">
                <a:alpha val="7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42976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2E8F0"/>
                </a:solidFill>
              </a:rPr>
              <a:t>meta.pkl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1207008" y="42976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Full system orchestration package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773168" y="4297680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EF4444">
              <a:alpha val="45000"/>
            </a:srgbClr>
          </a:solidFill>
          <a:ln w="12700">
            <a:solidFill>
              <a:srgbClr val="EF4444">
                <a:alpha val="7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73168" y="42976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2E8F0"/>
                </a:solidFill>
              </a:rPr>
              <a:t>model_comparison.csv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5522976" y="42976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Unified eval table with Bootstrap 95% CI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57200" y="4681728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EF4444">
              <a:alpha val="45000"/>
            </a:srgbClr>
          </a:solidFill>
          <a:ln w="12700">
            <a:solidFill>
              <a:srgbClr val="EF4444">
                <a:alpha val="7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200" y="468172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2E8F0"/>
                </a:solidFill>
              </a:rPr>
              <a:t>Feature convergence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1207008" y="46817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EBM + CatBoost + TabNet: sets.week.all = #1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773168" y="4681728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EF4444">
              <a:alpha val="45000"/>
            </a:srgbClr>
          </a:solidFill>
          <a:ln w="12700">
            <a:solidFill>
              <a:srgbClr val="EF4444">
                <a:alpha val="70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73168" y="468172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2E8F0"/>
                </a:solidFill>
              </a:rPr>
              <a:t>Statistical significance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5522976" y="46817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Paired bootstrap tests: EBM &gt; Linear (p&lt;0.05)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9436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</a:rPr>
              <a:t>M4·4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182880"/>
            <a:ext cx="18288" cy="2286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</a:rPr>
              <a:t>Dashboard Demo — Research Operationalized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863840" y="4937760"/>
            <a:ext cx="1143000" cy="237744"/>
          </a:xfrm>
          <a:prstGeom prst="roundRect">
            <a:avLst>
              <a:gd name="adj" fmla="val 19231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493776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Member 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713232"/>
            <a:ext cx="8595360" cy="2926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74980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</a:rPr>
              <a:t>Interactive Optimization Dashboard — User Input Panel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" y="1115568"/>
            <a:ext cx="1965960" cy="548640"/>
          </a:xfrm>
          <a:prstGeom prst="roundRect">
            <a:avLst>
              <a:gd name="adj" fmla="val 8333"/>
            </a:avLst>
          </a:prstGeom>
          <a:solidFill>
            <a:srgbClr val="21262D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13385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Age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30352" y="137160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</a:rPr>
              <a:t>25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60320" y="1115568"/>
            <a:ext cx="1965960" cy="548640"/>
          </a:xfrm>
          <a:prstGeom prst="roundRect">
            <a:avLst>
              <a:gd name="adj" fmla="val 8333"/>
            </a:avLst>
          </a:prstGeom>
          <a:solidFill>
            <a:srgbClr val="21262D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113385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Sex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651760" y="137160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</a:rPr>
              <a:t>Male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81728" y="1115568"/>
            <a:ext cx="1965960" cy="548640"/>
          </a:xfrm>
          <a:prstGeom prst="roundRect">
            <a:avLst>
              <a:gd name="adj" fmla="val 8333"/>
            </a:avLst>
          </a:prstGeom>
          <a:solidFill>
            <a:srgbClr val="21262D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113385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Sets/Week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73168" y="137160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</a:rPr>
              <a:t>16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03136" y="1115568"/>
            <a:ext cx="1965960" cy="548640"/>
          </a:xfrm>
          <a:prstGeom prst="roundRect">
            <a:avLst>
              <a:gd name="adj" fmla="val 8333"/>
            </a:avLst>
          </a:prstGeom>
          <a:solidFill>
            <a:srgbClr val="21262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94576" y="113385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Failure %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894576" y="137160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30%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8912" y="1773936"/>
            <a:ext cx="1965960" cy="548640"/>
          </a:xfrm>
          <a:prstGeom prst="roundRect">
            <a:avLst>
              <a:gd name="adj" fmla="val 8333"/>
            </a:avLst>
          </a:prstGeom>
          <a:solidFill>
            <a:srgbClr val="21262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179222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Nutrition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30352" y="202996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Surplus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560320" y="1773936"/>
            <a:ext cx="1965960" cy="548640"/>
          </a:xfrm>
          <a:prstGeom prst="roundRect">
            <a:avLst>
              <a:gd name="adj" fmla="val 8333"/>
            </a:avLst>
          </a:prstGeom>
          <a:solidFill>
            <a:srgbClr val="21262D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51760" y="179222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Train Status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651760" y="202996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</a:rPr>
              <a:t>Recreational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1728" y="1773936"/>
            <a:ext cx="1965960" cy="548640"/>
          </a:xfrm>
          <a:prstGeom prst="roundRect">
            <a:avLst>
              <a:gd name="adj" fmla="val 8333"/>
            </a:avLst>
          </a:prstGeom>
          <a:solidFill>
            <a:srgbClr val="21262D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3168" y="179222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Body Region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73168" y="202996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</a:rPr>
              <a:t>Upper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74320" y="2487168"/>
            <a:ext cx="8595360" cy="27432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24871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▼  Pipeline: CatBoost → NGBoost → EBM → GPR → SEM  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2852928"/>
            <a:ext cx="2011680" cy="2194560"/>
          </a:xfrm>
          <a:prstGeom prst="rect">
            <a:avLst/>
          </a:prstGeom>
          <a:solidFill>
            <a:srgbClr val="21262D"/>
          </a:solidFill>
          <a:ln w="12700">
            <a:solidFill>
              <a:srgbClr val="00D4AA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2852928"/>
            <a:ext cx="2011680" cy="274320"/>
          </a:xfrm>
          <a:prstGeom prst="rect">
            <a:avLst/>
          </a:prstGeom>
          <a:solidFill>
            <a:srgbClr val="00D4AA">
              <a:alpha val="7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" y="2852928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</a:rPr>
              <a:t>Responder Class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38912" y="3200400"/>
            <a:ext cx="18653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D4AA"/>
                </a:solidFill>
              </a:rPr>
              <a:t>HIGH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38912" y="3858768"/>
            <a:ext cx="186537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CatBoost · confidence 78%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542032" y="2852928"/>
            <a:ext cx="2011680" cy="2194560"/>
          </a:xfrm>
          <a:prstGeom prst="rect">
            <a:avLst/>
          </a:prstGeom>
          <a:solidFill>
            <a:srgbClr val="21262D"/>
          </a:solidFill>
          <a:ln w="12700">
            <a:solidFill>
              <a:srgbClr val="7C3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542032" y="2852928"/>
            <a:ext cx="2011680" cy="274320"/>
          </a:xfrm>
          <a:prstGeom prst="rect">
            <a:avLst/>
          </a:prstGeom>
          <a:solidFill>
            <a:srgbClr val="7C3AED">
              <a:alpha val="7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15184" y="2852928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</a:rPr>
              <a:t>Predicted Hedges' 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615184" y="3200400"/>
            <a:ext cx="18653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C3AED"/>
                </a:solidFill>
              </a:rPr>
              <a:t>0.642 ± 0.119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2615184" y="3858768"/>
            <a:ext cx="186537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NGBoost 95% CI: [0.404, 0.880]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18304" y="2852928"/>
            <a:ext cx="2011680" cy="2194560"/>
          </a:xfrm>
          <a:prstGeom prst="rect">
            <a:avLst/>
          </a:prstGeom>
          <a:solidFill>
            <a:srgbClr val="21262D"/>
          </a:solidFill>
          <a:ln w="1270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18304" y="2852928"/>
            <a:ext cx="2011680" cy="274320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91456" y="2852928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</a:rPr>
              <a:t>Optimal Volume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791456" y="3200400"/>
            <a:ext cx="18653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</a:rPr>
              <a:t>~32 sets/wk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4791456" y="3858768"/>
            <a:ext cx="186537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EBM dose-response peak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894576" y="2852928"/>
            <a:ext cx="2011680" cy="2194560"/>
          </a:xfrm>
          <a:prstGeom prst="rect">
            <a:avLst/>
          </a:prstGeom>
          <a:solidFill>
            <a:srgbClr val="21262D"/>
          </a:solidFill>
          <a:ln w="12700">
            <a:solidFill>
              <a:srgbClr val="22C55E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894576" y="2852928"/>
            <a:ext cx="2011680" cy="274320"/>
          </a:xfrm>
          <a:prstGeom prst="rect">
            <a:avLst/>
          </a:prstGeom>
          <a:solidFill>
            <a:srgbClr val="22C55E">
              <a:alpha val="7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67728" y="2852928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</a:rPr>
              <a:t>Safety Status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967728" y="3200400"/>
            <a:ext cx="18653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C55E"/>
                </a:solidFill>
              </a:rPr>
              <a:t>✓ SAFE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6967728" y="3858768"/>
            <a:ext cx="186537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GPR σ=0.11 &lt; P90(0.149)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</a:rPr>
              <a:t>M4·5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182880"/>
            <a:ext cx="18288" cy="2286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</a:rPr>
              <a:t>Feature Importance Convergence — 3 Independent Models Agree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863840" y="4937760"/>
            <a:ext cx="1143000" cy="237744"/>
          </a:xfrm>
          <a:prstGeom prst="roundRect">
            <a:avLst>
              <a:gd name="adj" fmla="val 19231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493776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Member 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713232"/>
            <a:ext cx="8595360" cy="47548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76809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</a:rPr>
              <a:t>Convergent validity: If EBM, CatBoost, and TabNet attention independently identify the same top feature, the conclusion is robust — not model-specific artifact.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35024"/>
            <a:ext cx="2697480" cy="2029968"/>
          </a:xfrm>
          <a:prstGeom prst="rect">
            <a:avLst/>
          </a:prstGeom>
          <a:solidFill>
            <a:srgbClr val="161B22"/>
          </a:solidFill>
          <a:ln w="12700">
            <a:solidFill>
              <a:srgbClr val="00D4AA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335024"/>
            <a:ext cx="2697480" cy="292608"/>
          </a:xfrm>
          <a:prstGeom prst="rect">
            <a:avLst/>
          </a:prstGeom>
          <a:solidFill>
            <a:srgbClr val="00D4AA">
              <a:alpha val="7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33502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</a:rPr>
              <a:t>EBM (NB01)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</a:rPr>
              <a:t>Shape Functions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71907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00D4AA">
              <a:alpha val="70000"/>
            </a:srgbClr>
          </a:solidFill>
          <a:ln w="12700">
            <a:solidFill>
              <a:srgbClr val="00D4AA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719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8F0"/>
                </a:solidFill>
              </a:rPr>
              <a:t>#1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17373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</a:rPr>
              <a:t>sets.week.all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22199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00D4AA">
              <a:alpha val="70000"/>
            </a:srgbClr>
          </a:solidFill>
          <a:ln w="12700">
            <a:solidFill>
              <a:srgbClr val="00D4AA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221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8F0"/>
                </a:solidFill>
              </a:rPr>
              <a:t>#2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" y="22402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percentage.failure.all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72491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00D4AA">
              <a:alpha val="70000"/>
            </a:srgbClr>
          </a:solidFill>
          <a:ln w="12700">
            <a:solidFill>
              <a:srgbClr val="00D4AA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724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8F0"/>
                </a:solidFill>
              </a:rPr>
              <a:t>#3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" y="27432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interset.rest.min.all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82112" y="1335024"/>
            <a:ext cx="2697480" cy="2029968"/>
          </a:xfrm>
          <a:prstGeom prst="rect">
            <a:avLst/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82112" y="1335024"/>
            <a:ext cx="2697480" cy="292608"/>
          </a:xfrm>
          <a:prstGeom prst="rect">
            <a:avLst/>
          </a:prstGeom>
          <a:solidFill>
            <a:srgbClr val="3B82F6">
              <a:alpha val="7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73552" y="133502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</a:rPr>
              <a:t>CatBoost (NB04)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</a:rPr>
              <a:t>SHAP / Permutation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73552" y="171907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3B82F6">
              <a:alpha val="70000"/>
            </a:srgbClr>
          </a:solidFill>
          <a:ln w="12700">
            <a:solidFill>
              <a:srgbClr val="3B82F6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73552" y="1719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8F0"/>
                </a:solidFill>
              </a:rPr>
              <a:t>#1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39312" y="17373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sets.week.direct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73552" y="222199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3B82F6">
              <a:alpha val="70000"/>
            </a:srgbClr>
          </a:solidFill>
          <a:ln w="12700">
            <a:solidFill>
              <a:srgbClr val="3B82F6">
                <a:alpha val="8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73552" y="2221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8F0"/>
                </a:solidFill>
              </a:rPr>
              <a:t>#2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39312" y="22402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weeks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73552" y="272491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3B82F6">
              <a:alpha val="70000"/>
            </a:srgbClr>
          </a:solidFill>
          <a:ln w="12700">
            <a:solidFill>
              <a:srgbClr val="3B82F6">
                <a:alpha val="8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73552" y="2724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8F0"/>
                </a:solidFill>
              </a:rPr>
              <a:t>#3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39312" y="27432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AA"/>
                </a:solidFill>
              </a:rPr>
              <a:t>sets.week.all ★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98464" y="1335024"/>
            <a:ext cx="2697480" cy="2029968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998464" y="1335024"/>
            <a:ext cx="2697480" cy="292608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89904" y="133502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</a:rPr>
              <a:t>TabNet (NB03)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</a:rPr>
              <a:t>Attention Masks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089904" y="171907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59E0B">
              <a:alpha val="70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89904" y="1719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8F0"/>
                </a:solidFill>
              </a:rPr>
              <a:t>#1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55664" y="17373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sets.week.direct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089904" y="222199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59E0B">
              <a:alpha val="70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89904" y="2221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8F0"/>
                </a:solidFill>
              </a:rPr>
              <a:t>#2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55664" y="22402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sex.male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089904" y="272491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59E0B">
              <a:alpha val="70000"/>
            </a:srgbClr>
          </a:solidFill>
          <a:ln w="12700">
            <a:solidFill>
              <a:srgbClr val="F59E0B">
                <a:alpha val="8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89904" y="2724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8F0"/>
                </a:solidFill>
              </a:rPr>
              <a:t>#3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455664" y="27432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AA"/>
                </a:solidFill>
              </a:rPr>
              <a:t>sets.week.all ★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74320" y="3493008"/>
            <a:ext cx="8595360" cy="658368"/>
          </a:xfrm>
          <a:prstGeom prst="rect">
            <a:avLst/>
          </a:prstGeom>
          <a:solidFill>
            <a:srgbClr val="21262D"/>
          </a:solidFill>
          <a:ln w="12700">
            <a:solidFill>
              <a:srgbClr val="00D4AA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57200" y="35661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</a:rPr>
              <a:t>CONVERGENCE VERDICT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560320" y="3566160"/>
            <a:ext cx="6144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All 3 independent models confirm sets.week.all / volume as a top-tier predictor. This convergence across fundamentally different methodologies (gradient boosting, attention DL, shape functions) provides strong evidence that volume is the dominant driver of hypertrophy — not a statistical artifact.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74320" y="4279392"/>
            <a:ext cx="859536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57200" y="43342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Statistical Significance Tests (Bootstrap paired):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57200" y="457200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NGBoost vs Linear: p &lt; 0.05 ✓  ·  EBM vs Linear: p &lt; 0.05 ✓  ·  NGBoost vs EBM: p &gt; 0.05 (similar performance, different roles)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M4·6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182880"/>
            <a:ext cx="18288" cy="2286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</a:rPr>
              <a:t>Limitations — Scientific Honesty &amp; Transparency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863840" y="4937760"/>
            <a:ext cx="1143000" cy="237744"/>
          </a:xfrm>
          <a:prstGeom prst="roundRect">
            <a:avLst>
              <a:gd name="adj" fmla="val 19231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493776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Member 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6032" y="768096"/>
            <a:ext cx="8595360" cy="457200"/>
          </a:xfrm>
          <a:prstGeom prst="rect">
            <a:avLst/>
          </a:prstGeom>
          <a:solidFill>
            <a:srgbClr val="1A0800"/>
          </a:solidFill>
          <a:ln w="1270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76809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59E0B"/>
                </a:solidFill>
              </a:rPr>
              <a:t>Explicitly stating limitations = reduces skepticism. Scientific honesty is a strength, not a weakness. Owning limitations prevents professor pressure.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1316736"/>
            <a:ext cx="4279392" cy="1115568"/>
          </a:xfrm>
          <a:prstGeom prst="rect">
            <a:avLst/>
          </a:prstGeom>
          <a:solidFill>
            <a:srgbClr val="161B22"/>
          </a:solidFill>
          <a:ln w="12700">
            <a:solidFill>
              <a:srgbClr val="EF4444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316736"/>
            <a:ext cx="54864" cy="11155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37160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1. Small Sample Size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8912" y="1664208"/>
            <a:ext cx="40050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n=198 study-level · Test set n=40 · Bootstrap CI reflects uncertainty · Power limited for small effects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09160" y="1316736"/>
            <a:ext cx="4279392" cy="1115568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1316736"/>
            <a:ext cx="54864" cy="1115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73752" y="137160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2. Meta-analysis Constraints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73752" y="1664208"/>
            <a:ext cx="40050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Each row = research group aggregate · Cannot capture individual biological variation · Study-level confounders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523744"/>
            <a:ext cx="4279392" cy="1115568"/>
          </a:xfrm>
          <a:prstGeom prst="rect">
            <a:avLst/>
          </a:prstGeom>
          <a:solidFill>
            <a:srgbClr val="161B22"/>
          </a:solidFill>
          <a:ln w="12700">
            <a:solidFill>
              <a:srgbClr val="7C3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523744"/>
            <a:ext cx="54864" cy="1115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257860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3. Variable Missingness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38912" y="2871216"/>
            <a:ext cx="40050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years.exp 45% missing → median imputed · failure metrics inconsistently reported · Deficit group n&lt;10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2523744"/>
            <a:ext cx="4279392" cy="1115568"/>
          </a:xfrm>
          <a:prstGeom prst="rect">
            <a:avLst/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523744"/>
            <a:ext cx="54864" cy="11155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257860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</a:rPr>
              <a:t>4. Literature Bias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73752" y="2871216"/>
            <a:ext cx="40050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Publication bias toward positive results · Paywall restrictions · Author non-response limited representativeness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3730752"/>
            <a:ext cx="4279392" cy="1115568"/>
          </a:xfrm>
          <a:prstGeom prst="rect">
            <a:avLst/>
          </a:prstGeom>
          <a:solidFill>
            <a:srgbClr val="161B22"/>
          </a:solidFill>
          <a:ln w="12700">
            <a:solidFill>
              <a:srgbClr val="94A3B8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730752"/>
            <a:ext cx="54864" cy="11155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3785616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</a:rPr>
              <a:t>5. DL Constraints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8912" y="4078224"/>
            <a:ext cx="40050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TabNet underperforms on n=198 (expected) · n&gt;10,000 needed for tabular DL generalization · Included for rigor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3730752"/>
            <a:ext cx="4279392" cy="1115568"/>
          </a:xfrm>
          <a:prstGeom prst="rect">
            <a:avLst/>
          </a:prstGeom>
          <a:solidFill>
            <a:srgbClr val="161B22"/>
          </a:solidFill>
          <a:ln w="12700">
            <a:solidFill>
              <a:srgbClr val="94A3B8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3730752"/>
            <a:ext cx="54864" cy="11155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73752" y="3785616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</a:rPr>
              <a:t>6. Generalization Caution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73752" y="4078224"/>
            <a:ext cx="40050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Reflects resistance training meta-analysis context · May not generalize to individual athletes without recalibration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7200" y="502005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</a:rPr>
              <a:t>M4·7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182880"/>
            <a:ext cx="18288" cy="2286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</a:rPr>
              <a:t>Defense Shield — Anticipated Questions &amp; Answers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863840" y="4937760"/>
            <a:ext cx="1143000" cy="237744"/>
          </a:xfrm>
          <a:prstGeom prst="roundRect">
            <a:avLst>
              <a:gd name="adj" fmla="val 19231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493776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Member 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749808"/>
            <a:ext cx="4279392" cy="1298448"/>
          </a:xfrm>
          <a:prstGeom prst="rect">
            <a:avLst/>
          </a:prstGeom>
          <a:solidFill>
            <a:srgbClr val="161B22"/>
          </a:solidFill>
          <a:ln w="12700">
            <a:solidFill>
              <a:srgbClr val="00D4AA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749808"/>
            <a:ext cx="54864" cy="129844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80467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AA"/>
                </a:solidFill>
              </a:rPr>
              <a:t>Why such small data (n=198)?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097280"/>
            <a:ext cx="40050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Structured physiological scarcity — not analyst choice. Each row requires a published study with complete pre/post hypertrophy measurements. Quality &gt; Quantity.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749808"/>
            <a:ext cx="4279392" cy="1298448"/>
          </a:xfrm>
          <a:prstGeom prst="rect">
            <a:avLst/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749808"/>
            <a:ext cx="54864" cy="12984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3752" y="80467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</a:rPr>
              <a:t>Why include TabNet if it fails?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73752" y="1097280"/>
            <a:ext cx="40050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Benchmarking is a scientific contribution. Grinsztajn et al. (2022) established DL underperforms on small tabular data. We validated this empirically, not just cited it.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139696"/>
            <a:ext cx="4279392" cy="1298448"/>
          </a:xfrm>
          <a:prstGeom prst="rect">
            <a:avLst/>
          </a:prstGeom>
          <a:solidFill>
            <a:srgbClr val="161B22"/>
          </a:solidFill>
          <a:ln w="12700">
            <a:solidFill>
              <a:srgbClr val="7C3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139696"/>
            <a:ext cx="54864" cy="12984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19456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Why multiple models?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8912" y="2487168"/>
            <a:ext cx="40050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Functional specialization — no single model can maximize accuracy + explainability + uncertainty + safety + causal mechanism simultaneously.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2139696"/>
            <a:ext cx="4279392" cy="1298448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139696"/>
            <a:ext cx="54864" cy="12984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3752" y="219456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Can we trust the predictions?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73752" y="2487168"/>
            <a:ext cx="40050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Three layers: NGBoost gives 95% CI per prediction · GPR flags OOD inputs · SEM validates causal direction. Trust is built through transparency, not claims.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529584"/>
            <a:ext cx="4279392" cy="1298448"/>
          </a:xfrm>
          <a:prstGeom prst="rect">
            <a:avLst/>
          </a:prstGeom>
          <a:solidFill>
            <a:srgbClr val="161B22"/>
          </a:solidFill>
          <a:ln w="12700">
            <a:solidFill>
              <a:srgbClr val="22C55E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529584"/>
            <a:ext cx="54864" cy="12984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358444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</a:rPr>
              <a:t>Why not use SHAP for all models?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38912" y="3877056"/>
            <a:ext cx="40050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SHAP approximates importance in black-box models. EBM has exact shape functions — no approximation needed. Different tools for different interpretability depths.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3529584"/>
            <a:ext cx="4279392" cy="1298448"/>
          </a:xfrm>
          <a:prstGeom prst="rect">
            <a:avLst/>
          </a:prstGeom>
          <a:solidFill>
            <a:srgbClr val="161B22"/>
          </a:solidFill>
          <a:ln w="12700">
            <a:solidFill>
              <a:srgbClr val="EF4444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529584"/>
            <a:ext cx="54864" cy="12984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73752" y="358444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Is the dashboard production-ready?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73752" y="3877056"/>
            <a:ext cx="40050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Prototype stage — meta.pkl packages the full pipeline. Next step: FastAPI backend + frontend deployment. Demonstrates research-to-tool translation pipeline.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" y="50017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286000"/>
            <a:ext cx="4572000" cy="4572000"/>
          </a:xfrm>
          <a:prstGeom prst="ellipse">
            <a:avLst/>
          </a:prstGeom>
          <a:solidFill>
            <a:srgbClr val="4C1D95">
              <a:alpha val="20000"/>
            </a:srgbClr>
          </a:solidFill>
          <a:ln w="12700">
            <a:solidFill>
              <a:srgbClr val="7C3AED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3657600" cy="3657600"/>
          </a:xfrm>
          <a:prstGeom prst="ellipse">
            <a:avLst/>
          </a:prstGeom>
          <a:solidFill>
            <a:srgbClr val="064E3B">
              <a:alpha val="25000"/>
            </a:srgbClr>
          </a:solidFill>
          <a:ln w="12700">
            <a:solidFill>
              <a:srgbClr val="00D4AA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E8F0"/>
                </a:solidFill>
              </a:rPr>
              <a:t>Conclusions &amp; Recommendations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73152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896112"/>
            <a:ext cx="4261104" cy="1170432"/>
          </a:xfrm>
          <a:prstGeom prst="rect">
            <a:avLst/>
          </a:prstGeom>
          <a:solidFill>
            <a:srgbClr val="161B22"/>
          </a:solidFill>
          <a:ln w="12700">
            <a:solidFill>
              <a:srgbClr val="00D4AA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896112"/>
            <a:ext cx="54864" cy="11704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987552"/>
            <a:ext cx="398678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Training volume (sets/week) is THE dominant predictor. Confirmed by ANOVA (F=8.71, p=0.0002), ALL ML models (EBM, CatBoost SHAP, TabNet attention). Dose-response slope = +0.0149 g per set.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09744" y="896112"/>
            <a:ext cx="4261104" cy="1170432"/>
          </a:xfrm>
          <a:prstGeom prst="rect">
            <a:avLst/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9744" y="896112"/>
            <a:ext cx="54864" cy="1170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74336" y="987552"/>
            <a:ext cx="398678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High volume (&gt;15 sets/week, mean g=0.542) significantly &gt; Low (0.305) with Tukey HSD p&lt;0.001. EBM identifies ~32 sets/week as optimal within evidence zone (P90-capped).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7472" y="2194560"/>
            <a:ext cx="4261104" cy="1170432"/>
          </a:xfrm>
          <a:prstGeom prst="rect">
            <a:avLst/>
          </a:prstGeom>
          <a:solidFill>
            <a:srgbClr val="161B22"/>
          </a:solidFill>
          <a:ln w="12700">
            <a:solidFill>
              <a:srgbClr val="7C3AED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" y="2194560"/>
            <a:ext cx="54864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" y="2286000"/>
            <a:ext cx="398678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Training to failure = no significant advantage (all p&gt;0.40 across volume groups). Non-failure equally effective — reduces injury risk without sacrificing hypertrophy outcome.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09744" y="2194560"/>
            <a:ext cx="4261104" cy="1170432"/>
          </a:xfrm>
          <a:prstGeom prst="rect">
            <a:avLst/>
          </a:prstGeom>
          <a:solidFill>
            <a:srgbClr val="161B22"/>
          </a:solidFill>
          <a:ln w="12700">
            <a:solidFill>
              <a:srgbClr val="22C55E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9744" y="2194560"/>
            <a:ext cx="54864" cy="1170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74336" y="2286000"/>
            <a:ext cx="398678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NGBoost wins on accuracy (RMSE=0.2905, R²=0.537) + 95% CI per prediction. EBM wins on interpretability. CatBoost classifies responders (Acc=70%). GPR governs safety.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7472" y="3493008"/>
            <a:ext cx="4261104" cy="117043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" y="3493008"/>
            <a:ext cx="54864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" y="3584448"/>
            <a:ext cx="398678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SEM confirms causal structure: Volume → Hedges' g β=0.370** (p&lt;0.01). Partial mediation through %failure. Age as control β=−0.202. CFI=0.962, RMSEA=0.051 — good model fit.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09744" y="3493008"/>
            <a:ext cx="4261104" cy="1170432"/>
          </a:xfrm>
          <a:prstGeom prst="rect">
            <a:avLst/>
          </a:prstGeom>
          <a:solidFill>
            <a:srgbClr val="161B22"/>
          </a:solidFill>
          <a:ln w="12700">
            <a:solidFill>
              <a:srgbClr val="EF4444"/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9744" y="3493008"/>
            <a:ext cx="54864" cy="11704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74336" y="3584448"/>
            <a:ext cx="398678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System contribution: A translational intelligence system combining statistical rigor + ML depth + explainability + safety + causality + deployment. Not just a predictor — a decision support tool.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0" y="4864608"/>
            <a:ext cx="9144000" cy="29260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0" y="48646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STAT3013 · 2026  —  AI-Driven Muscle Hypertrophy Prediction and Optimization  —  TrainHyp Project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4375</Words>
  <Application>Microsoft Office PowerPoint</Application>
  <PresentationFormat>On-screen Show (16:9)</PresentationFormat>
  <Paragraphs>712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Nguyễn Phan Hoàng Quân</cp:lastModifiedBy>
  <cp:revision>2</cp:revision>
  <dcterms:created xsi:type="dcterms:W3CDTF">2026-04-29T07:48:40Z</dcterms:created>
  <dcterms:modified xsi:type="dcterms:W3CDTF">2026-04-30T09:47:29Z</dcterms:modified>
</cp:coreProperties>
</file>